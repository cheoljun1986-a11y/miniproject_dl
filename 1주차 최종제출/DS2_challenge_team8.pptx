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71" r:id="rId8"/>
    <p:sldId id="272" r:id="rId9"/>
    <p:sldId id="273" r:id="rId10"/>
    <p:sldId id="274" r:id="rId11"/>
    <p:sldId id="275" r:id="rId12"/>
  </p:sldIdLst>
  <p:sldSz cx="12192000" cy="6858000"/>
  <p:notesSz cx="7559675" cy="10691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32238"/>
    <a:srgbClr val="D52D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436" autoAdjust="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086DE3-303A-4D11-B9DF-064F613AFEE0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5CE24A-2DB5-473F-A132-12AAE1F4F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610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CE24A-2DB5-473F-A132-12AAE1F4F4A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571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07C767-78C9-4802-94A6-A03CA2750B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37DB10-1A2D-412C-B266-C38DB599CE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3DADDA-6542-4823-99E9-6E07CB3DA7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957EDB-8CFB-4D1C-8475-EA2898221C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66F5F8-B645-487A-9EE4-4EAA804FE7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F28167-CD20-4592-B4C2-DF0368140E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4D4742-9AA9-431F-BD01-1350C62CF6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6A6FF5-EAD8-4565-AE56-60FBF997AD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F78F2C-1908-4D83-8A40-CEE6537703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E0E4D9-1AB1-4CAC-A59E-AAA942432D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606A79-0C24-4997-8F1D-8CEA59B708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478CD5-8291-4C41-89E4-AB74CCCCB25D}"/>
              </a:ext>
            </a:extLst>
          </p:cNvPr>
          <p:cNvSpPr txBox="1"/>
          <p:nvPr userDrawn="1"/>
        </p:nvSpPr>
        <p:spPr>
          <a:xfrm>
            <a:off x="5092823" y="6533969"/>
            <a:ext cx="20063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EC35B98-01E0-454B-86D8-0E0B11C1FC57}" type="slidenum">
              <a:rPr lang="en-US" altLang="ko-KR" sz="1200" b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/11</a:t>
            </a:r>
            <a:endParaRPr lang="ko-KR" altLang="en-US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2336" y="283464"/>
            <a:ext cx="104241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5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  <a:endParaRPr sz="2550" b="1" dirty="0">
              <a:solidFill>
                <a:srgbClr val="1C20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384048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1097280"/>
            <a:ext cx="1645920" cy="209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097280"/>
            <a:ext cx="6858000" cy="1937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0" dirty="0" err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</a:t>
            </a:r>
            <a:r>
              <a:rPr sz="1019" b="0" dirty="0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0" dirty="0" err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성능과</a:t>
            </a:r>
            <a:r>
              <a:rPr sz="1019" b="0" dirty="0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0" dirty="0" err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</a:t>
            </a:r>
            <a:r>
              <a:rPr sz="1019" b="0" dirty="0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0" dirty="0" err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  <a:r>
              <a:rPr sz="1019" b="0" dirty="0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0" dirty="0" err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</a:t>
            </a:r>
            <a:endParaRPr sz="1019" b="0" dirty="0">
              <a:solidFill>
                <a:srgbClr val="6870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362456"/>
            <a:ext cx="9326880" cy="0"/>
          </a:xfrm>
          <a:prstGeom prst="line">
            <a:avLst/>
          </a:prstGeom>
          <a:ln w="1016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91056"/>
            <a:ext cx="384048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591056"/>
            <a:ext cx="1645920" cy="209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수행할 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591056"/>
            <a:ext cx="6858000" cy="1937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0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데이터와 평가 환경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1856231"/>
            <a:ext cx="9326880" cy="0"/>
          </a:xfrm>
          <a:prstGeom prst="line">
            <a:avLst/>
          </a:prstGeom>
          <a:ln w="1016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084832"/>
            <a:ext cx="384048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084832"/>
            <a:ext cx="1645920" cy="209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1차 접근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084832"/>
            <a:ext cx="6858000" cy="1937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0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EfficientNet Baseline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2350008"/>
            <a:ext cx="9326880" cy="0"/>
          </a:xfrm>
          <a:prstGeom prst="line">
            <a:avLst/>
          </a:prstGeom>
          <a:ln w="1016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2578608"/>
            <a:ext cx="384048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578608"/>
            <a:ext cx="1645920" cy="209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 발견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578608"/>
            <a:ext cx="6858000" cy="1937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0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환경의 열화 조건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843784"/>
            <a:ext cx="9326880" cy="0"/>
          </a:xfrm>
          <a:prstGeom prst="line">
            <a:avLst/>
          </a:prstGeom>
          <a:ln w="1016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3072384"/>
            <a:ext cx="384048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072384"/>
            <a:ext cx="1645920" cy="209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2차 접근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072384"/>
            <a:ext cx="6858000" cy="1937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0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Error-driven Robustness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337560"/>
            <a:ext cx="9326880" cy="0"/>
          </a:xfrm>
          <a:prstGeom prst="line">
            <a:avLst/>
          </a:prstGeom>
          <a:ln w="1016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3566160"/>
            <a:ext cx="384048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566160"/>
            <a:ext cx="1645920" cy="209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문제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566160"/>
            <a:ext cx="6858000" cy="1937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0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단위 분할의 한계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831336"/>
            <a:ext cx="9326880" cy="0"/>
          </a:xfrm>
          <a:prstGeom prst="line">
            <a:avLst/>
          </a:prstGeom>
          <a:ln w="1016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4059936"/>
            <a:ext cx="384048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059936"/>
            <a:ext cx="1645920" cy="209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3차 접근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059936"/>
            <a:ext cx="6858000" cy="1937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0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Track-aware 5-Fold OOF + Fold Ensemble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4325112"/>
            <a:ext cx="9326880" cy="0"/>
          </a:xfrm>
          <a:prstGeom prst="line">
            <a:avLst/>
          </a:prstGeom>
          <a:ln w="1016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4553712"/>
            <a:ext cx="384048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553712"/>
            <a:ext cx="1645920" cy="209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4차 접근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553712"/>
            <a:ext cx="6858000" cy="1937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0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Full-data Expansion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818888"/>
            <a:ext cx="9326880" cy="0"/>
          </a:xfrm>
          <a:prstGeom prst="line">
            <a:avLst/>
          </a:prstGeom>
          <a:ln w="1016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5047488"/>
            <a:ext cx="384048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" y="5047488"/>
            <a:ext cx="1645920" cy="209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5047488"/>
            <a:ext cx="6858000" cy="1937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0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 기반 개선 과정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5312664"/>
            <a:ext cx="9326880" cy="0"/>
          </a:xfrm>
          <a:prstGeom prst="line">
            <a:avLst/>
          </a:prstGeom>
          <a:ln w="1016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795077F-2129-4568-BF33-6737A4E19E45}"/>
              </a:ext>
            </a:extLst>
          </p:cNvPr>
          <p:cNvSpPr txBox="1"/>
          <p:nvPr/>
        </p:nvSpPr>
        <p:spPr>
          <a:xfrm>
            <a:off x="11238271" y="188959"/>
            <a:ext cx="8455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20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3212" y="186928"/>
            <a:ext cx="104241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5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47006"/>
            <a:ext cx="2286000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 dirty="0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Official Test Macro-F1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124712" y="3246120"/>
            <a:ext cx="2194560" cy="621792"/>
          </a:xfrm>
          <a:prstGeom prst="line">
            <a:avLst/>
          </a:prstGeom>
          <a:ln w="27940">
            <a:solidFill>
              <a:srgbClr val="2F5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319272" y="2724912"/>
            <a:ext cx="2194560" cy="521208"/>
          </a:xfrm>
          <a:prstGeom prst="line">
            <a:avLst/>
          </a:prstGeom>
          <a:ln w="27940">
            <a:solidFill>
              <a:srgbClr val="2F5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513832" y="2724912"/>
            <a:ext cx="1920240" cy="128016"/>
          </a:xfrm>
          <a:prstGeom prst="line">
            <a:avLst/>
          </a:prstGeom>
          <a:ln w="25400">
            <a:solidFill>
              <a:srgbClr val="8E94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1560" y="3794760"/>
            <a:ext cx="146304" cy="146304"/>
          </a:xfrm>
          <a:prstGeom prst="ellipse">
            <a:avLst/>
          </a:prstGeom>
          <a:solidFill>
            <a:srgbClr val="1C2026"/>
          </a:solidFill>
          <a:ln>
            <a:solidFill>
              <a:srgbClr val="1C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377413"/>
            <a:ext cx="960120" cy="2677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0.9691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94878"/>
            <a:ext cx="960120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" y="4848415"/>
            <a:ext cx="1325880" cy="19697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40" b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Baseline</a:t>
            </a:r>
          </a:p>
        </p:txBody>
      </p:sp>
      <p:sp>
        <p:nvSpPr>
          <p:cNvPr id="11" name="Oval 10"/>
          <p:cNvSpPr/>
          <p:nvPr/>
        </p:nvSpPr>
        <p:spPr>
          <a:xfrm>
            <a:off x="3246120" y="3172968"/>
            <a:ext cx="146304" cy="146304"/>
          </a:xfrm>
          <a:prstGeom prst="ellipse">
            <a:avLst/>
          </a:prstGeom>
          <a:solidFill>
            <a:srgbClr val="1C2026"/>
          </a:solidFill>
          <a:ln>
            <a:solidFill>
              <a:srgbClr val="1C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34639" y="2755621"/>
            <a:ext cx="960120" cy="2677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0.9878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4494878"/>
            <a:ext cx="960120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848415"/>
            <a:ext cx="1325880" cy="19697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40" b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Robustness</a:t>
            </a:r>
          </a:p>
        </p:txBody>
      </p:sp>
      <p:sp>
        <p:nvSpPr>
          <p:cNvPr id="15" name="Oval 14"/>
          <p:cNvSpPr/>
          <p:nvPr/>
        </p:nvSpPr>
        <p:spPr>
          <a:xfrm>
            <a:off x="5440680" y="2651760"/>
            <a:ext cx="146304" cy="146304"/>
          </a:xfrm>
          <a:prstGeom prst="ellipse">
            <a:avLst/>
          </a:prstGeom>
          <a:solidFill>
            <a:srgbClr val="2F5CB4"/>
          </a:solidFill>
          <a:ln>
            <a:solidFill>
              <a:srgbClr val="2F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0" y="2234413"/>
            <a:ext cx="960120" cy="2677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0.9964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494878"/>
            <a:ext cx="960120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848415"/>
            <a:ext cx="1325880" cy="19697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40" b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Track-aware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5175504"/>
            <a:ext cx="868680" cy="256032"/>
          </a:xfrm>
          <a:prstGeom prst="roundRect">
            <a:avLst/>
          </a:prstGeom>
          <a:solidFill>
            <a:srgbClr val="EFF5FF"/>
          </a:solidFill>
          <a:ln w="11430">
            <a:solidFill>
              <a:srgbClr val="2F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74920" y="5212046"/>
            <a:ext cx="868680" cy="1646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3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선택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0" y="2779776"/>
            <a:ext cx="146304" cy="146304"/>
          </a:xfrm>
          <a:prstGeom prst="ellipse">
            <a:avLst/>
          </a:prstGeom>
          <a:solidFill>
            <a:srgbClr val="8E949D"/>
          </a:solidFill>
          <a:ln>
            <a:solidFill>
              <a:srgbClr val="8E9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49440" y="2362429"/>
            <a:ext cx="960120" cy="2677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8E94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0.9962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494878"/>
            <a:ext cx="960120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848415"/>
            <a:ext cx="1325880" cy="19697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40" b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Full-data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58200" y="1325880"/>
            <a:ext cx="2944368" cy="22128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86800" y="1541366"/>
            <a:ext cx="2487168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FINAL SUBMISSION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1833750"/>
            <a:ext cx="2487168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3차 Track-aware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198283"/>
            <a:ext cx="2487168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Macro-F1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408929"/>
            <a:ext cx="2487168" cy="4216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0.9964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23960" y="2926080"/>
            <a:ext cx="2194560" cy="0"/>
          </a:xfrm>
          <a:prstGeom prst="line">
            <a:avLst/>
          </a:prstGeom>
          <a:ln w="1016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705088" y="3103539"/>
            <a:ext cx="2468880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0">
                <a:solidFill>
                  <a:srgbClr val="8E94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4차 0.9962는 개선되지 않아 미채택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669280"/>
            <a:ext cx="10835640" cy="0"/>
          </a:xfrm>
          <a:prstGeom prst="line">
            <a:avLst/>
          </a:prstGeom>
          <a:ln w="1143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7240" y="5878520"/>
            <a:ext cx="10332720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직전 결과에서 확인한 문제를 기준으로 다음 방법을 선택했고, 가장 높은 성능을 기록한 3차 버전을 최종 제출하였다.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/>
          <p:nvPr/>
        </p:nvSpPr>
        <p:spPr>
          <a:xfrm>
            <a:off x="339090" y="260410"/>
            <a:ext cx="10423800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수행할 문제 </a:t>
            </a:r>
            <a:r>
              <a:rPr lang="en-US" altLang="ko-KR" sz="28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8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제한된 피드백 환경의 이미지 분류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9D16564-9D90-4053-B174-C73C67FB8C37}"/>
              </a:ext>
            </a:extLst>
          </p:cNvPr>
          <p:cNvGrpSpPr/>
          <p:nvPr/>
        </p:nvGrpSpPr>
        <p:grpSpPr>
          <a:xfrm>
            <a:off x="3952528" y="1185559"/>
            <a:ext cx="3903124" cy="1611226"/>
            <a:chOff x="3592764" y="1069234"/>
            <a:chExt cx="3903124" cy="1611226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B5451D5-5153-4DA0-BAC5-D44D31791BF7}"/>
                </a:ext>
              </a:extLst>
            </p:cNvPr>
            <p:cNvGrpSpPr/>
            <p:nvPr/>
          </p:nvGrpSpPr>
          <p:grpSpPr>
            <a:xfrm>
              <a:off x="3592764" y="1089449"/>
              <a:ext cx="1279800" cy="630788"/>
              <a:chOff x="638428" y="1614817"/>
              <a:chExt cx="1279800" cy="630788"/>
            </a:xfrm>
          </p:grpSpPr>
          <p:sp>
            <p:nvSpPr>
              <p:cNvPr id="138" name="TextBox 3"/>
              <p:cNvSpPr/>
              <p:nvPr/>
            </p:nvSpPr>
            <p:spPr>
              <a:xfrm>
                <a:off x="638428" y="1614817"/>
                <a:ext cx="1279800" cy="338554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spAutoFit/>
              </a:bodyPr>
              <a:lstStyle/>
              <a:p>
                <a:pPr defTabSz="457200">
                  <a:lnSpc>
                    <a:spcPct val="100000"/>
                  </a:lnSpc>
                </a:pPr>
                <a:r>
                  <a:rPr lang="en-US" sz="2200" b="1" u="none" strike="noStrike" dirty="0">
                    <a:solidFill>
                      <a:srgbClr val="1C2026"/>
                    </a:solidFill>
                    <a:effectLst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26,010</a:t>
                </a:r>
                <a:endParaRPr lang="en-US" sz="2200" b="0" u="none" strike="noStrike" dirty="0">
                  <a:solidFill>
                    <a:srgbClr val="000000"/>
                  </a:solidFill>
                  <a:effectLst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39" name="TextBox 4"/>
              <p:cNvSpPr/>
              <p:nvPr/>
            </p:nvSpPr>
            <p:spPr>
              <a:xfrm>
                <a:off x="638428" y="1953217"/>
                <a:ext cx="1279800" cy="292388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spAutoFit/>
              </a:bodyPr>
              <a:lstStyle/>
              <a:p>
                <a:pPr defTabSz="457200">
                  <a:lnSpc>
                    <a:spcPct val="100000"/>
                  </a:lnSpc>
                </a:pPr>
                <a:r>
                  <a:rPr lang="en-US" sz="950" b="0" u="none" strike="noStrike" dirty="0">
                    <a:solidFill>
                      <a:srgbClr val="68707D"/>
                    </a:solidFill>
                    <a:effectLst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Train image</a:t>
                </a:r>
              </a:p>
              <a:p>
                <a:pPr defTabSz="457200">
                  <a:lnSpc>
                    <a:spcPct val="100000"/>
                  </a:lnSpc>
                </a:pPr>
                <a:r>
                  <a:rPr lang="en-US" sz="950" dirty="0">
                    <a:solidFill>
                      <a:srgbClr val="68707D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 group = 30 images</a:t>
                </a:r>
                <a:endParaRPr lang="en-US" sz="950" b="0" u="none" strike="noStrike" dirty="0">
                  <a:solidFill>
                    <a:srgbClr val="000000"/>
                  </a:solidFill>
                  <a:effectLst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AFDC245E-9BB7-4882-9BCE-71938E8C4195}"/>
                </a:ext>
              </a:extLst>
            </p:cNvPr>
            <p:cNvGrpSpPr/>
            <p:nvPr/>
          </p:nvGrpSpPr>
          <p:grpSpPr>
            <a:xfrm>
              <a:off x="6216088" y="1069234"/>
              <a:ext cx="1279800" cy="630788"/>
              <a:chOff x="6216088" y="1066443"/>
              <a:chExt cx="1279800" cy="630788"/>
            </a:xfrm>
          </p:grpSpPr>
          <p:sp>
            <p:nvSpPr>
              <p:cNvPr id="140" name="TextBox 5"/>
              <p:cNvSpPr/>
              <p:nvPr/>
            </p:nvSpPr>
            <p:spPr>
              <a:xfrm>
                <a:off x="6216088" y="1066443"/>
                <a:ext cx="1279800" cy="338554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spAutoFit/>
              </a:bodyPr>
              <a:lstStyle/>
              <a:p>
                <a:pPr defTabSz="457200">
                  <a:lnSpc>
                    <a:spcPct val="100000"/>
                  </a:lnSpc>
                </a:pPr>
                <a:r>
                  <a:rPr lang="en-US" sz="2200" b="1" u="none" strike="noStrike" dirty="0">
                    <a:solidFill>
                      <a:srgbClr val="1C2026"/>
                    </a:solidFill>
                    <a:effectLst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8,670</a:t>
                </a:r>
                <a:endParaRPr lang="en-US" sz="2200" b="0" u="none" strike="noStrike" dirty="0">
                  <a:solidFill>
                    <a:srgbClr val="000000"/>
                  </a:solidFill>
                  <a:effectLst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41" name="TextBox 6"/>
              <p:cNvSpPr/>
              <p:nvPr/>
            </p:nvSpPr>
            <p:spPr>
              <a:xfrm>
                <a:off x="6216088" y="1404843"/>
                <a:ext cx="1279800" cy="292388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spAutoFit/>
              </a:bodyPr>
              <a:lstStyle/>
              <a:p>
                <a:pPr defTabSz="457200">
                  <a:lnSpc>
                    <a:spcPct val="100000"/>
                  </a:lnSpc>
                </a:pPr>
                <a:r>
                  <a:rPr lang="en-US" sz="950" b="0" u="none" strike="noStrike" dirty="0">
                    <a:solidFill>
                      <a:schemeClr val="bg1">
                        <a:lumMod val="50000"/>
                      </a:schemeClr>
                    </a:solidFill>
                    <a:effectLst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Test images</a:t>
                </a:r>
              </a:p>
              <a:p>
                <a:pPr defTabSz="457200">
                  <a:lnSpc>
                    <a:spcPct val="100000"/>
                  </a:lnSpc>
                </a:pPr>
                <a:r>
                  <a:rPr lang="en-US" sz="950" b="0" u="none" strike="noStrike" dirty="0">
                    <a:solidFill>
                      <a:schemeClr val="bg1">
                        <a:lumMod val="50000"/>
                      </a:schemeClr>
                    </a:solidFill>
                    <a:effectLst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Un - labeled</a:t>
                </a:r>
              </a:p>
            </p:txBody>
          </p:sp>
        </p:grp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DAA83BA5-B92E-4B25-956F-9615583ECB5E}"/>
                </a:ext>
              </a:extLst>
            </p:cNvPr>
            <p:cNvGrpSpPr/>
            <p:nvPr/>
          </p:nvGrpSpPr>
          <p:grpSpPr>
            <a:xfrm>
              <a:off x="3592764" y="2049672"/>
              <a:ext cx="1279800" cy="630788"/>
              <a:chOff x="3838828" y="1614817"/>
              <a:chExt cx="1279800" cy="630788"/>
            </a:xfrm>
          </p:grpSpPr>
          <p:sp>
            <p:nvSpPr>
              <p:cNvPr id="142" name="TextBox 7"/>
              <p:cNvSpPr/>
              <p:nvPr/>
            </p:nvSpPr>
            <p:spPr>
              <a:xfrm>
                <a:off x="3838828" y="1614817"/>
                <a:ext cx="1279800" cy="338554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spAutoFit/>
              </a:bodyPr>
              <a:lstStyle/>
              <a:p>
                <a:pPr defTabSz="457200">
                  <a:lnSpc>
                    <a:spcPct val="100000"/>
                  </a:lnSpc>
                </a:pPr>
                <a:r>
                  <a:rPr lang="en-US" sz="2200" b="1" u="none" strike="noStrike" dirty="0">
                    <a:solidFill>
                      <a:srgbClr val="1C2026"/>
                    </a:solidFill>
                    <a:effectLst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43</a:t>
                </a:r>
                <a:endParaRPr lang="en-US" sz="2200" b="0" u="none" strike="noStrike" dirty="0">
                  <a:solidFill>
                    <a:srgbClr val="000000"/>
                  </a:solidFill>
                  <a:effectLst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43" name="TextBox 8"/>
              <p:cNvSpPr/>
              <p:nvPr/>
            </p:nvSpPr>
            <p:spPr>
              <a:xfrm>
                <a:off x="3838828" y="1953217"/>
                <a:ext cx="1279800" cy="292388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spAutoFit/>
              </a:bodyPr>
              <a:lstStyle/>
              <a:p>
                <a:pPr defTabSz="457200">
                  <a:lnSpc>
                    <a:spcPct val="100000"/>
                  </a:lnSpc>
                </a:pPr>
                <a:r>
                  <a:rPr lang="en-US" sz="950" b="0" u="none" strike="noStrike" dirty="0">
                    <a:solidFill>
                      <a:srgbClr val="68707D"/>
                    </a:solidFill>
                    <a:effectLst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Classes</a:t>
                </a:r>
              </a:p>
              <a:p>
                <a:pPr defTabSz="457200">
                  <a:lnSpc>
                    <a:spcPct val="100000"/>
                  </a:lnSpc>
                </a:pPr>
                <a:r>
                  <a:rPr lang="en-US" sz="950" dirty="0">
                    <a:solidFill>
                      <a:srgbClr val="68707D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Imbalance data</a:t>
                </a:r>
                <a:endParaRPr lang="en-US" sz="950" b="0" u="none" strike="noStrike" dirty="0">
                  <a:solidFill>
                    <a:srgbClr val="000000"/>
                  </a:solidFill>
                  <a:effectLst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E83863CD-C038-4511-A708-CCEC6E431798}"/>
                </a:ext>
              </a:extLst>
            </p:cNvPr>
            <p:cNvGrpSpPr/>
            <p:nvPr/>
          </p:nvGrpSpPr>
          <p:grpSpPr>
            <a:xfrm>
              <a:off x="6216088" y="2049672"/>
              <a:ext cx="1279800" cy="630788"/>
              <a:chOff x="5439028" y="1614817"/>
              <a:chExt cx="1279800" cy="630788"/>
            </a:xfrm>
          </p:grpSpPr>
          <p:sp>
            <p:nvSpPr>
              <p:cNvPr id="26" name="TextBox 7">
                <a:extLst>
                  <a:ext uri="{FF2B5EF4-FFF2-40B4-BE49-F238E27FC236}">
                    <a16:creationId xmlns:a16="http://schemas.microsoft.com/office/drawing/2014/main" id="{A081C319-318A-40DF-9287-B3D018797225}"/>
                  </a:ext>
                </a:extLst>
              </p:cNvPr>
              <p:cNvSpPr/>
              <p:nvPr/>
            </p:nvSpPr>
            <p:spPr>
              <a:xfrm>
                <a:off x="5439028" y="1614817"/>
                <a:ext cx="1279800" cy="338554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spAutoFit/>
              </a:bodyPr>
              <a:lstStyle/>
              <a:p>
                <a:pPr defTabSz="457200">
                  <a:lnSpc>
                    <a:spcPct val="100000"/>
                  </a:lnSpc>
                </a:pPr>
                <a:r>
                  <a:rPr lang="en-US" sz="2200" b="1" u="none" strike="noStrike" dirty="0">
                    <a:solidFill>
                      <a:srgbClr val="1C2026"/>
                    </a:solidFill>
                    <a:effectLst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</a:t>
                </a:r>
                <a:endParaRPr lang="en-US" sz="2200" b="0" u="none" strike="noStrike" dirty="0">
                  <a:solidFill>
                    <a:srgbClr val="000000"/>
                  </a:solidFill>
                  <a:effectLst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7" name="TextBox 8">
                <a:extLst>
                  <a:ext uri="{FF2B5EF4-FFF2-40B4-BE49-F238E27FC236}">
                    <a16:creationId xmlns:a16="http://schemas.microsoft.com/office/drawing/2014/main" id="{DEDB0F28-9440-4807-9957-D2CF2013C156}"/>
                  </a:ext>
                </a:extLst>
              </p:cNvPr>
              <p:cNvSpPr/>
              <p:nvPr/>
            </p:nvSpPr>
            <p:spPr>
              <a:xfrm>
                <a:off x="5439028" y="1953217"/>
                <a:ext cx="1279800" cy="292388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spAutoFit/>
              </a:bodyPr>
              <a:lstStyle/>
              <a:p>
                <a:pPr defTabSz="457200">
                  <a:lnSpc>
                    <a:spcPct val="100000"/>
                  </a:lnSpc>
                </a:pPr>
                <a:r>
                  <a:rPr lang="en-US" sz="950" dirty="0">
                    <a:solidFill>
                      <a:srgbClr val="68707D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Test </a:t>
                </a:r>
              </a:p>
              <a:p>
                <a:pPr defTabSz="457200">
                  <a:lnSpc>
                    <a:spcPct val="100000"/>
                  </a:lnSpc>
                </a:pPr>
                <a:r>
                  <a:rPr lang="en-US" sz="950" dirty="0">
                    <a:solidFill>
                      <a:srgbClr val="68707D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Opportunity</a:t>
                </a:r>
                <a:endParaRPr lang="en-US" sz="950" b="0" u="none" strike="noStrike" dirty="0">
                  <a:solidFill>
                    <a:srgbClr val="000000"/>
                  </a:solidFill>
                  <a:effectLst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D9629AB2-5E64-4634-81EA-5E269B3B354D}"/>
              </a:ext>
            </a:extLst>
          </p:cNvPr>
          <p:cNvGrpSpPr/>
          <p:nvPr/>
        </p:nvGrpSpPr>
        <p:grpSpPr>
          <a:xfrm>
            <a:off x="245806" y="2880711"/>
            <a:ext cx="7787148" cy="3215429"/>
            <a:chOff x="339090" y="2757577"/>
            <a:chExt cx="7787148" cy="3215429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D06A7D3-3D0D-4C34-800B-7E4FF37C2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090" y="2757577"/>
              <a:ext cx="7787148" cy="305083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2ED7C9A-E2F4-4412-9E8D-A8AD7A4E14EE}"/>
                </a:ext>
              </a:extLst>
            </p:cNvPr>
            <p:cNvSpPr txBox="1"/>
            <p:nvPr/>
          </p:nvSpPr>
          <p:spPr>
            <a:xfrm>
              <a:off x="2632464" y="5808414"/>
              <a:ext cx="3200400" cy="164592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normAutofit lnSpcReduction="10000"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00" b="0" dirty="0">
                  <a:solidFill>
                    <a:srgbClr val="68707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 Train Class Distribution / </a:t>
              </a:r>
              <a:r>
                <a:rPr sz="900" b="0" dirty="0" err="1">
                  <a:solidFill>
                    <a:srgbClr val="68707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대표</a:t>
              </a:r>
              <a:r>
                <a:rPr sz="900" b="0" dirty="0">
                  <a:solidFill>
                    <a:srgbClr val="68707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sz="900" b="0" dirty="0" err="1">
                  <a:solidFill>
                    <a:srgbClr val="68707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이미지</a:t>
              </a:r>
              <a:r>
                <a:rPr sz="900" b="0" dirty="0">
                  <a:solidFill>
                    <a:srgbClr val="68707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&gt;</a:t>
              </a:r>
            </a:p>
          </p:txBody>
        </p:sp>
      </p:grpSp>
      <p:sp>
        <p:nvSpPr>
          <p:cNvPr id="19" name="Rounded Rectangle 16">
            <a:extLst>
              <a:ext uri="{FF2B5EF4-FFF2-40B4-BE49-F238E27FC236}">
                <a16:creationId xmlns:a16="http://schemas.microsoft.com/office/drawing/2014/main" id="{4D05EE6C-D365-4575-8ADC-CC85D1BD7558}"/>
              </a:ext>
            </a:extLst>
          </p:cNvPr>
          <p:cNvSpPr/>
          <p:nvPr/>
        </p:nvSpPr>
        <p:spPr>
          <a:xfrm>
            <a:off x="8334314" y="1452618"/>
            <a:ext cx="36118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779000-AEF7-4D9D-B99C-18550137AEBE}"/>
              </a:ext>
            </a:extLst>
          </p:cNvPr>
          <p:cNvSpPr txBox="1"/>
          <p:nvPr/>
        </p:nvSpPr>
        <p:spPr>
          <a:xfrm>
            <a:off x="8471474" y="1562345"/>
            <a:ext cx="3337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57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특성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DACAB3-A00D-4701-B122-C458269DF44F}"/>
              </a:ext>
            </a:extLst>
          </p:cNvPr>
          <p:cNvSpPr txBox="1"/>
          <p:nvPr/>
        </p:nvSpPr>
        <p:spPr>
          <a:xfrm>
            <a:off x="8471474" y="1836665"/>
            <a:ext cx="3337560" cy="9601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클래스별</a:t>
            </a:r>
            <a:r>
              <a:rPr sz="950" b="0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950" b="0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sz="950" b="0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 </a:t>
            </a:r>
            <a:r>
              <a:rPr sz="950" b="0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불균형</a:t>
            </a:r>
            <a:endParaRPr sz="950" b="0" dirty="0">
              <a:solidFill>
                <a:srgbClr val="1C20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</a:t>
            </a:r>
            <a:r>
              <a:rPr sz="950" b="0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950" b="0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물리적</a:t>
            </a:r>
            <a:r>
              <a:rPr sz="950" b="0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950" b="0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표지판을</a:t>
            </a:r>
            <a:r>
              <a:rPr sz="950" b="0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950" b="0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</a:t>
            </a:r>
            <a:r>
              <a:rPr sz="950" b="0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950" b="0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프레임</a:t>
            </a:r>
            <a:r>
              <a:rPr sz="950" b="0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950" b="0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촬영</a:t>
            </a:r>
            <a:endParaRPr sz="950" b="0" dirty="0">
              <a:solidFill>
                <a:srgbClr val="1C20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track = 30 images</a:t>
            </a:r>
          </a:p>
        </p:txBody>
      </p: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99E42158-8D25-443A-98F6-70831C2F6327}"/>
              </a:ext>
            </a:extLst>
          </p:cNvPr>
          <p:cNvSpPr/>
          <p:nvPr/>
        </p:nvSpPr>
        <p:spPr>
          <a:xfrm>
            <a:off x="8334314" y="3071106"/>
            <a:ext cx="361188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5CE00B-4A73-4E1B-8B9D-E2B40320CFDF}"/>
              </a:ext>
            </a:extLst>
          </p:cNvPr>
          <p:cNvSpPr txBox="1"/>
          <p:nvPr/>
        </p:nvSpPr>
        <p:spPr>
          <a:xfrm>
            <a:off x="8471474" y="3180834"/>
            <a:ext cx="3337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57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 환경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C4F2A5-4F48-4004-9F0D-A7DC100EF5A8}"/>
              </a:ext>
            </a:extLst>
          </p:cNvPr>
          <p:cNvSpPr txBox="1"/>
          <p:nvPr/>
        </p:nvSpPr>
        <p:spPr>
          <a:xfrm>
            <a:off x="8471474" y="3455154"/>
            <a:ext cx="333756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label </a:t>
            </a:r>
            <a:r>
              <a:rPr sz="950" b="0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비공개</a:t>
            </a:r>
            <a:endParaRPr sz="950" b="0" dirty="0">
              <a:solidFill>
                <a:srgbClr val="1C20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Macro-F1 </a:t>
            </a:r>
            <a:r>
              <a:rPr sz="950" b="0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</a:t>
            </a:r>
            <a:endParaRPr sz="950" b="0" dirty="0">
              <a:solidFill>
                <a:srgbClr val="1C20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sz="950" b="0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결과만</a:t>
            </a:r>
            <a:r>
              <a:rPr sz="950" b="0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950" b="0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제한적으로</a:t>
            </a:r>
            <a:r>
              <a:rPr sz="950" b="0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950" b="0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  <a:r>
              <a:rPr sz="950" b="0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950" b="0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  <a:endParaRPr sz="950" b="0" dirty="0">
              <a:solidFill>
                <a:srgbClr val="1C20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Rounded Rectangle 22">
            <a:extLst>
              <a:ext uri="{FF2B5EF4-FFF2-40B4-BE49-F238E27FC236}">
                <a16:creationId xmlns:a16="http://schemas.microsoft.com/office/drawing/2014/main" id="{51A42922-9D2D-49A5-A030-99C10FB126A7}"/>
              </a:ext>
            </a:extLst>
          </p:cNvPr>
          <p:cNvSpPr/>
          <p:nvPr/>
        </p:nvSpPr>
        <p:spPr>
          <a:xfrm>
            <a:off x="8334314" y="4488426"/>
            <a:ext cx="3611880" cy="1042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70AD56-AFF4-4ACC-B566-68DDF3099099}"/>
              </a:ext>
            </a:extLst>
          </p:cNvPr>
          <p:cNvSpPr txBox="1"/>
          <p:nvPr/>
        </p:nvSpPr>
        <p:spPr>
          <a:xfrm>
            <a:off x="8471474" y="4598154"/>
            <a:ext cx="3337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57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문제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48D7FC-45B0-4AA0-B87A-3E0C06EA17D5}"/>
              </a:ext>
            </a:extLst>
          </p:cNvPr>
          <p:cNvSpPr txBox="1"/>
          <p:nvPr/>
        </p:nvSpPr>
        <p:spPr>
          <a:xfrm>
            <a:off x="8471474" y="4872474"/>
            <a:ext cx="333756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설계가 모델 선택의 핵심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처음 보는 표지판 일반화 성능 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"/>
          <p:cNvSpPr/>
          <p:nvPr/>
        </p:nvSpPr>
        <p:spPr>
          <a:xfrm>
            <a:off x="312924" y="269800"/>
            <a:ext cx="10423800" cy="3924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550" b="1" u="none" strike="noStrike" dirty="0">
                <a:solidFill>
                  <a:srgbClr val="1C2026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550" b="1" u="none" strike="noStrike" dirty="0">
                <a:solidFill>
                  <a:srgbClr val="1C2026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차 접근 </a:t>
            </a:r>
            <a:r>
              <a:rPr lang="en-US" sz="2550" b="1" u="none" strike="noStrike" dirty="0">
                <a:solidFill>
                  <a:srgbClr val="1C2026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Baseline</a:t>
            </a:r>
            <a:r>
              <a:rPr lang="zh-CN" sz="2550" b="1" u="none" strike="noStrike" dirty="0">
                <a:solidFill>
                  <a:srgbClr val="1C2026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과 관찰 지표 확보</a:t>
            </a:r>
            <a:endParaRPr lang="en-US" sz="255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7B4C6C05-F6E1-4924-9B70-8BE1DD2A4135}"/>
              </a:ext>
            </a:extLst>
          </p:cNvPr>
          <p:cNvSpPr/>
          <p:nvPr/>
        </p:nvSpPr>
        <p:spPr>
          <a:xfrm>
            <a:off x="557784" y="1574257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57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BASELINE SETTING</a:t>
            </a:r>
            <a:endParaRPr 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1F269287-FF4E-4591-A16C-A23B9AC3B198}"/>
              </a:ext>
            </a:extLst>
          </p:cNvPr>
          <p:cNvSpPr/>
          <p:nvPr/>
        </p:nvSpPr>
        <p:spPr>
          <a:xfrm>
            <a:off x="557784" y="1876009"/>
            <a:ext cx="388620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329860D2-D489-485F-B56F-B39EE96AF759}"/>
              </a:ext>
            </a:extLst>
          </p:cNvPr>
          <p:cNvSpPr/>
          <p:nvPr/>
        </p:nvSpPr>
        <p:spPr>
          <a:xfrm>
            <a:off x="4828032" y="1574257"/>
            <a:ext cx="635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57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AUGMENTATION</a:t>
            </a:r>
            <a:endParaRPr 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FB21D537-3C41-401C-9A7A-54D1BC8B9E89}"/>
              </a:ext>
            </a:extLst>
          </p:cNvPr>
          <p:cNvSpPr/>
          <p:nvPr/>
        </p:nvSpPr>
        <p:spPr>
          <a:xfrm>
            <a:off x="4828032" y="1876009"/>
            <a:ext cx="635508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4032B345-645E-4B02-A742-4D69F0FC577F}"/>
              </a:ext>
            </a:extLst>
          </p:cNvPr>
          <p:cNvSpPr/>
          <p:nvPr/>
        </p:nvSpPr>
        <p:spPr>
          <a:xfrm>
            <a:off x="557784" y="2108359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024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Model : EfficientNet-B0</a:t>
            </a:r>
            <a:endParaRPr 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9462684C-6200-4299-A6A9-D821ED5C7D53}"/>
              </a:ext>
            </a:extLst>
          </p:cNvPr>
          <p:cNvSpPr/>
          <p:nvPr/>
        </p:nvSpPr>
        <p:spPr>
          <a:xfrm>
            <a:off x="557784" y="4492704"/>
            <a:ext cx="1328166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57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SCORE GAP</a:t>
            </a:r>
            <a:endParaRPr 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5D44C45F-04F8-40A8-87A0-3F9A63FD32E7}"/>
              </a:ext>
            </a:extLst>
          </p:cNvPr>
          <p:cNvSpPr/>
          <p:nvPr/>
        </p:nvSpPr>
        <p:spPr>
          <a:xfrm>
            <a:off x="557784" y="4794456"/>
            <a:ext cx="10625328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1B66E275-29FB-4F4D-9FB0-703B650DCD07}"/>
              </a:ext>
            </a:extLst>
          </p:cNvPr>
          <p:cNvSpPr/>
          <p:nvPr/>
        </p:nvSpPr>
        <p:spPr>
          <a:xfrm>
            <a:off x="1168908" y="50859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5E6A7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Validation Macro F1</a:t>
            </a:r>
            <a:endParaRPr lang="en-US" sz="122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84EA7E0D-E43D-4122-934E-BB0EB0147FFB}"/>
              </a:ext>
            </a:extLst>
          </p:cNvPr>
          <p:cNvSpPr/>
          <p:nvPr/>
        </p:nvSpPr>
        <p:spPr>
          <a:xfrm>
            <a:off x="1132332" y="544253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024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0.9999</a:t>
            </a:r>
            <a:endParaRPr lang="en-US" sz="3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269544F8-9805-44AE-86E6-8B2DA60A21DE}"/>
              </a:ext>
            </a:extLst>
          </p:cNvPr>
          <p:cNvSpPr/>
          <p:nvPr/>
        </p:nvSpPr>
        <p:spPr>
          <a:xfrm>
            <a:off x="5082540" y="51042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6A7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Val - Test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55DD4237-A868-4955-86A3-03C01B0A780F}"/>
              </a:ext>
            </a:extLst>
          </p:cNvPr>
          <p:cNvSpPr/>
          <p:nvPr/>
        </p:nvSpPr>
        <p:spPr>
          <a:xfrm>
            <a:off x="5055108" y="5484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0444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0.0308</a:t>
            </a:r>
            <a:endParaRPr lang="en-US" sz="2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F679C152-357C-4936-BBC0-39007CE2BBD5}"/>
              </a:ext>
            </a:extLst>
          </p:cNvPr>
          <p:cNvSpPr/>
          <p:nvPr/>
        </p:nvSpPr>
        <p:spPr>
          <a:xfrm>
            <a:off x="5027676" y="589059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0444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≈ 3.08%p</a:t>
            </a:r>
            <a:endParaRPr 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04EE67E9-EEDD-4200-8316-99304C05BEC8}"/>
              </a:ext>
            </a:extLst>
          </p:cNvPr>
          <p:cNvSpPr/>
          <p:nvPr/>
        </p:nvSpPr>
        <p:spPr>
          <a:xfrm>
            <a:off x="7752588" y="50859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5E6A7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Official Test</a:t>
            </a:r>
            <a:endParaRPr lang="en-US" sz="122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2B9BDE24-C123-4102-A6A2-E2BB589133EA}"/>
              </a:ext>
            </a:extLst>
          </p:cNvPr>
          <p:cNvSpPr/>
          <p:nvPr/>
        </p:nvSpPr>
        <p:spPr>
          <a:xfrm>
            <a:off x="7716012" y="544253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024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0.9691</a:t>
            </a:r>
            <a:endParaRPr lang="en-US" sz="3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080DE16D-AC62-46FE-9023-8C767AE47D64}"/>
              </a:ext>
            </a:extLst>
          </p:cNvPr>
          <p:cNvSpPr/>
          <p:nvPr/>
        </p:nvSpPr>
        <p:spPr>
          <a:xfrm>
            <a:off x="4930285" y="2016643"/>
            <a:ext cx="5806439" cy="687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범용 촬영 변화 대응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 각도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위치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크기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원근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조명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부분 가림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786696-A033-4280-BA29-52D421416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271" y="3111361"/>
            <a:ext cx="6228601" cy="117710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9162419-F3A5-4F12-A496-987C69C9C335}"/>
              </a:ext>
            </a:extLst>
          </p:cNvPr>
          <p:cNvSpPr txBox="1"/>
          <p:nvPr/>
        </p:nvSpPr>
        <p:spPr>
          <a:xfrm>
            <a:off x="252964" y="768227"/>
            <a:ext cx="60972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 가능한 기준 모델과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실패 사례를 분석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EE7E6E-D410-4CF7-9F57-2D63408E25C1}"/>
              </a:ext>
            </a:extLst>
          </p:cNvPr>
          <p:cNvSpPr txBox="1"/>
          <p:nvPr/>
        </p:nvSpPr>
        <p:spPr>
          <a:xfrm>
            <a:off x="492801" y="2461879"/>
            <a:ext cx="31797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제한된 시간 안에 </a:t>
            </a:r>
            <a:endParaRPr lang="en-US" altLang="ko-KR" sz="1600" b="1" dirty="0">
              <a:solidFill>
                <a:srgbClr val="1F232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6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안정적인 기준 성능을 </a:t>
            </a:r>
            <a:endParaRPr lang="en-US" altLang="ko-KR" sz="1600" b="1" dirty="0">
              <a:solidFill>
                <a:srgbClr val="1F232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확보하기 위해 선택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397CB2-AA90-439E-922E-608FE1941214}"/>
              </a:ext>
            </a:extLst>
          </p:cNvPr>
          <p:cNvSpPr txBox="1"/>
          <p:nvPr/>
        </p:nvSpPr>
        <p:spPr>
          <a:xfrm>
            <a:off x="682389" y="3481388"/>
            <a:ext cx="3179789" cy="567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장점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경량성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분류성능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확장성의 균형</a:t>
            </a:r>
            <a:endParaRPr lang="en-US" altLang="ko-KR" sz="11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단점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성능 상한은 낮을 수 있음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1830AC9A-E7D6-4F5A-A233-1E1A63CC1836}"/>
              </a:ext>
            </a:extLst>
          </p:cNvPr>
          <p:cNvSpPr/>
          <p:nvPr/>
        </p:nvSpPr>
        <p:spPr>
          <a:xfrm>
            <a:off x="4561295" y="4799683"/>
            <a:ext cx="3069409" cy="493162"/>
          </a:xfrm>
          <a:prstGeom prst="downArrow">
            <a:avLst>
              <a:gd name="adj1" fmla="val 65306"/>
              <a:gd name="adj2" fmla="val 58753"/>
            </a:avLst>
          </a:prstGeom>
          <a:gradFill>
            <a:gsLst>
              <a:gs pos="0">
                <a:schemeClr val="bg1"/>
              </a:gs>
              <a:gs pos="79000">
                <a:schemeClr val="bg1">
                  <a:lumMod val="9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3" name="TextBox 1"/>
          <p:cNvSpPr/>
          <p:nvPr/>
        </p:nvSpPr>
        <p:spPr>
          <a:xfrm>
            <a:off x="321562" y="249569"/>
            <a:ext cx="10423800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 발견 </a:t>
            </a:r>
            <a:r>
              <a:rPr lang="en-US" altLang="ko-KR" sz="28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Test </a:t>
            </a:r>
            <a:r>
              <a:rPr lang="ko-KR" altLang="en-US" sz="28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환경의 열화 조건</a:t>
            </a:r>
          </a:p>
        </p:txBody>
      </p:sp>
      <p:sp>
        <p:nvSpPr>
          <p:cNvPr id="194" name="TextBox 12"/>
          <p:cNvSpPr/>
          <p:nvPr/>
        </p:nvSpPr>
        <p:spPr>
          <a:xfrm>
            <a:off x="5420356" y="4892376"/>
            <a:ext cx="1490109" cy="153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00" b="1" u="none" strike="noStrike" dirty="0">
                <a:solidFill>
                  <a:srgbClr val="68707D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관찰</a:t>
            </a:r>
            <a:r>
              <a:rPr lang="ko-KR" altLang="en-US" sz="1000" b="1" dirty="0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결과 </a:t>
            </a:r>
            <a:r>
              <a:rPr lang="en-US" altLang="ko-KR" sz="1000" b="1" dirty="0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000" b="1" dirty="0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유형 확인</a:t>
            </a:r>
            <a:endParaRPr lang="en-US" sz="1000" b="1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09702FA-D64B-4C33-838A-EFF16EB20327}"/>
              </a:ext>
            </a:extLst>
          </p:cNvPr>
          <p:cNvGrpSpPr/>
          <p:nvPr/>
        </p:nvGrpSpPr>
        <p:grpSpPr>
          <a:xfrm>
            <a:off x="4697208" y="5437395"/>
            <a:ext cx="4023000" cy="215445"/>
            <a:chOff x="4091940" y="5847816"/>
            <a:chExt cx="4023000" cy="21544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DD168D6-F9E4-4CD2-BD04-DAB49BDAB8BD}"/>
                </a:ext>
              </a:extLst>
            </p:cNvPr>
            <p:cNvSpPr/>
            <p:nvPr/>
          </p:nvSpPr>
          <p:spPr>
            <a:xfrm>
              <a:off x="4110803" y="5998335"/>
              <a:ext cx="2773865" cy="649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5" name="TextBox 13"/>
            <p:cNvSpPr/>
            <p:nvPr/>
          </p:nvSpPr>
          <p:spPr>
            <a:xfrm>
              <a:off x="4091940" y="5847816"/>
              <a:ext cx="4023000" cy="21544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zh-CN" sz="1400" b="1" u="none" strike="noStrike" dirty="0">
                  <a:solidFill>
                    <a:srgbClr val="1C2026"/>
                  </a:solidFill>
                  <a:effectLst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저화질 </a:t>
              </a:r>
              <a:r>
                <a:rPr lang="en-US" sz="1400" b="1" u="none" strike="noStrike" dirty="0">
                  <a:solidFill>
                    <a:srgbClr val="1C2026"/>
                  </a:solidFill>
                  <a:effectLst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· </a:t>
              </a:r>
              <a:r>
                <a:rPr lang="zh-CN" sz="1400" b="1" u="none" strike="noStrike" dirty="0">
                  <a:solidFill>
                    <a:srgbClr val="1C2026"/>
                  </a:solidFill>
                  <a:effectLst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가림 </a:t>
              </a:r>
              <a:r>
                <a:rPr lang="en-US" sz="1400" b="1" u="none" strike="noStrike" dirty="0">
                  <a:solidFill>
                    <a:srgbClr val="1C2026"/>
                  </a:solidFill>
                  <a:effectLst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· </a:t>
              </a:r>
              <a:r>
                <a:rPr lang="zh-CN" sz="1400" b="1" u="none" strike="noStrike" dirty="0">
                  <a:solidFill>
                    <a:srgbClr val="1C2026"/>
                  </a:solidFill>
                  <a:effectLst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흔들림 </a:t>
              </a:r>
              <a:r>
                <a:rPr lang="en-US" sz="1400" b="1" u="none" strike="noStrike" dirty="0">
                  <a:solidFill>
                    <a:srgbClr val="1C2026"/>
                  </a:solidFill>
                  <a:effectLst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· </a:t>
              </a:r>
              <a:r>
                <a:rPr lang="zh-CN" sz="1400" b="1" u="none" strike="noStrike" dirty="0">
                  <a:solidFill>
                    <a:srgbClr val="1C2026"/>
                  </a:solidFill>
                  <a:effectLst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그림자 </a:t>
              </a:r>
              <a:r>
                <a:rPr lang="en-US" sz="1400" b="1" u="none" strike="noStrike" dirty="0">
                  <a:solidFill>
                    <a:srgbClr val="1C2026"/>
                  </a:solidFill>
                  <a:effectLst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· </a:t>
              </a:r>
              <a:r>
                <a:rPr lang="zh-CN" sz="1400" b="1" u="none" strike="noStrike" dirty="0">
                  <a:solidFill>
                    <a:srgbClr val="1C2026"/>
                  </a:solidFill>
                  <a:effectLst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반사</a:t>
              </a:r>
              <a:endParaRPr lang="en-US" sz="1400" b="1" u="none" strike="noStrike" dirty="0">
                <a:solidFill>
                  <a:srgbClr val="000000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F42C85FB-FFD6-4916-BED1-4BEB28236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99" y="1161493"/>
            <a:ext cx="5477384" cy="35017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940B20E-FC38-4F11-9B00-576EE22A6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183" y="1155578"/>
            <a:ext cx="5489214" cy="350765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0F45DD5-0774-4BE2-AEE9-2F837D61552C}"/>
              </a:ext>
            </a:extLst>
          </p:cNvPr>
          <p:cNvSpPr/>
          <p:nvPr/>
        </p:nvSpPr>
        <p:spPr>
          <a:xfrm rot="20397607">
            <a:off x="1596585" y="2389069"/>
            <a:ext cx="781612" cy="39848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가림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4561D0B-6D5D-45A0-8446-83F5F4D44C4D}"/>
              </a:ext>
            </a:extLst>
          </p:cNvPr>
          <p:cNvSpPr/>
          <p:nvPr/>
        </p:nvSpPr>
        <p:spPr>
          <a:xfrm rot="20397607">
            <a:off x="7039873" y="4204842"/>
            <a:ext cx="781612" cy="39848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저화질</a:t>
            </a:r>
            <a:endParaRPr lang="ko-KR" altLang="en-US" sz="14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7F2A5BB-6304-4F29-B101-262D774240B7}"/>
              </a:ext>
            </a:extLst>
          </p:cNvPr>
          <p:cNvSpPr/>
          <p:nvPr/>
        </p:nvSpPr>
        <p:spPr>
          <a:xfrm rot="20397607">
            <a:off x="10789975" y="4204842"/>
            <a:ext cx="781612" cy="39848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흔들림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E129B9-5817-415F-97A3-F500FED8A5CE}"/>
              </a:ext>
            </a:extLst>
          </p:cNvPr>
          <p:cNvSpPr txBox="1"/>
          <p:nvPr/>
        </p:nvSpPr>
        <p:spPr>
          <a:xfrm>
            <a:off x="265867" y="753518"/>
            <a:ext cx="60972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label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확인할 수 없으므로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confidence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낮은 이미지들 관찰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B6605C-78A3-40AC-A152-25759B87CD2E}"/>
              </a:ext>
            </a:extLst>
          </p:cNvPr>
          <p:cNvSpPr txBox="1"/>
          <p:nvPr/>
        </p:nvSpPr>
        <p:spPr>
          <a:xfrm>
            <a:off x="1066800" y="6067007"/>
            <a:ext cx="10058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</a:t>
            </a:r>
            <a:r>
              <a:rPr sz="14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Basic </a:t>
            </a:r>
            <a:r>
              <a:rPr sz="140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Augmentation은</a:t>
            </a:r>
            <a:r>
              <a:rPr sz="14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일반적인</a:t>
            </a:r>
            <a:r>
              <a:rPr sz="14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촬영</a:t>
            </a:r>
            <a:r>
              <a:rPr sz="14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변화는</a:t>
            </a:r>
            <a:r>
              <a:rPr sz="14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반영했지만</a:t>
            </a:r>
            <a:r>
              <a:rPr sz="14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sz="140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Test에서</a:t>
            </a:r>
            <a:r>
              <a:rPr sz="14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나타난</a:t>
            </a:r>
            <a:r>
              <a:rPr sz="14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강한</a:t>
            </a:r>
            <a:r>
              <a:rPr sz="14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열화</a:t>
            </a:r>
            <a:r>
              <a:rPr sz="14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조건은</a:t>
            </a:r>
            <a:r>
              <a:rPr sz="14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충분히</a:t>
            </a:r>
            <a:r>
              <a:rPr sz="14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재현하지</a:t>
            </a:r>
            <a:r>
              <a:rPr sz="14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못했다</a:t>
            </a:r>
            <a:r>
              <a:rPr sz="14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Box 1"/>
          <p:cNvSpPr/>
          <p:nvPr/>
        </p:nvSpPr>
        <p:spPr>
          <a:xfrm>
            <a:off x="340804" y="218612"/>
            <a:ext cx="10423800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0" indent="0" algn="l">
              <a:buNone/>
            </a:pPr>
            <a:r>
              <a:rPr lang="en-US" altLang="ko-KR" sz="2800" b="1" dirty="0">
                <a:solidFill>
                  <a:srgbClr val="20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2차 </a:t>
            </a:r>
            <a:r>
              <a:rPr lang="en-US" altLang="ko-KR" sz="2800" b="1" dirty="0" err="1">
                <a:solidFill>
                  <a:srgbClr val="20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접근</a:t>
            </a:r>
            <a:r>
              <a:rPr lang="en-US" altLang="ko-KR" sz="2800" b="1" dirty="0">
                <a:solidFill>
                  <a:srgbClr val="20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 : Error-driven Augmentation</a:t>
            </a:r>
            <a:endParaRPr lang="en-US" altLang="ko-KR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AB5D199-122D-483C-80CE-16F73C6FD5B0}"/>
              </a:ext>
            </a:extLst>
          </p:cNvPr>
          <p:cNvGrpSpPr/>
          <p:nvPr/>
        </p:nvGrpSpPr>
        <p:grpSpPr>
          <a:xfrm>
            <a:off x="7432911" y="1247108"/>
            <a:ext cx="1263341" cy="1188721"/>
            <a:chOff x="8660816" y="4224189"/>
            <a:chExt cx="1263341" cy="118872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A8F137C-E146-401A-833C-4F62E4550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58716" y="4390115"/>
              <a:ext cx="1067542" cy="1022795"/>
            </a:xfrm>
            <a:prstGeom prst="rect">
              <a:avLst/>
            </a:prstGeom>
          </p:spPr>
        </p:pic>
        <p:sp>
          <p:nvSpPr>
            <p:cNvPr id="107" name="Text 54">
              <a:extLst>
                <a:ext uri="{FF2B5EF4-FFF2-40B4-BE49-F238E27FC236}">
                  <a16:creationId xmlns:a16="http://schemas.microsoft.com/office/drawing/2014/main" id="{222C6606-DCA6-413E-A105-CB8176406AD2}"/>
                </a:ext>
              </a:extLst>
            </p:cNvPr>
            <p:cNvSpPr/>
            <p:nvPr/>
          </p:nvSpPr>
          <p:spPr>
            <a:xfrm>
              <a:off x="8660816" y="4224189"/>
              <a:ext cx="1263341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ko-KR" altLang="en-US" sz="1050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Malgun Gothic" pitchFamily="34" charset="-120"/>
                </a:rPr>
                <a:t>원본</a:t>
              </a:r>
              <a:endParaRPr 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3" name="Text 20">
            <a:extLst>
              <a:ext uri="{FF2B5EF4-FFF2-40B4-BE49-F238E27FC236}">
                <a16:creationId xmlns:a16="http://schemas.microsoft.com/office/drawing/2014/main" id="{852B7529-D29A-40FA-BD69-92017D9BC42E}"/>
              </a:ext>
            </a:extLst>
          </p:cNvPr>
          <p:cNvSpPr/>
          <p:nvPr/>
        </p:nvSpPr>
        <p:spPr>
          <a:xfrm>
            <a:off x="478165" y="2557322"/>
            <a:ext cx="8942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554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핵심 </a:t>
            </a:r>
            <a:r>
              <a:rPr lang="en-US" sz="1050" b="1" dirty="0" err="1">
                <a:solidFill>
                  <a:srgbClr val="1554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메소드</a:t>
            </a:r>
            <a:r>
              <a:rPr lang="en-US" sz="1050" b="1" dirty="0">
                <a:solidFill>
                  <a:srgbClr val="1554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  -  Error-driven Augmentation</a:t>
            </a:r>
            <a:endParaRPr lang="en-US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37226B2B-AB6D-4191-A283-7E6B7D705929}"/>
              </a:ext>
            </a:extLst>
          </p:cNvPr>
          <p:cNvSpPr/>
          <p:nvPr/>
        </p:nvSpPr>
        <p:spPr>
          <a:xfrm>
            <a:off x="478165" y="2840786"/>
            <a:ext cx="894283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FB3889DD-3812-4D80-93EF-3CB3C5C65204}"/>
              </a:ext>
            </a:extLst>
          </p:cNvPr>
          <p:cNvSpPr/>
          <p:nvPr/>
        </p:nvSpPr>
        <p:spPr>
          <a:xfrm>
            <a:off x="490412" y="2907566"/>
            <a:ext cx="2112264" cy="1792224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50800" dir="2700000" algn="bl" rotWithShape="0">
              <a:srgbClr val="C9D1DD">
                <a:alpha val="16000"/>
              </a:srgbClr>
            </a:outerShdw>
          </a:effectLst>
        </p:spPr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3247058A-63B3-41BC-97E3-64102FE0240D}"/>
              </a:ext>
            </a:extLst>
          </p:cNvPr>
          <p:cNvSpPr/>
          <p:nvPr/>
        </p:nvSpPr>
        <p:spPr>
          <a:xfrm>
            <a:off x="655004" y="302643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0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LOW QUALITY / JPEG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82EE4C7A-3561-48DF-BF3C-344FAA4DF392}"/>
              </a:ext>
            </a:extLst>
          </p:cNvPr>
          <p:cNvSpPr/>
          <p:nvPr/>
        </p:nvSpPr>
        <p:spPr>
          <a:xfrm>
            <a:off x="655004" y="327332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B778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저화질 · 압축 열화</a:t>
            </a:r>
            <a:endParaRPr lang="en-US" sz="92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8" name="Image 0" descr="/mnt/data/slide_assets/low_quality.png">
            <a:extLst>
              <a:ext uri="{FF2B5EF4-FFF2-40B4-BE49-F238E27FC236}">
                <a16:creationId xmlns:a16="http://schemas.microsoft.com/office/drawing/2014/main" id="{04F16DD0-F7E4-49FD-BC4C-2651011D4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04" y="3565934"/>
            <a:ext cx="1783080" cy="850392"/>
          </a:xfrm>
          <a:prstGeom prst="rect">
            <a:avLst/>
          </a:prstGeom>
        </p:spPr>
      </p:pic>
      <p:sp>
        <p:nvSpPr>
          <p:cNvPr id="49" name="Shape 25">
            <a:extLst>
              <a:ext uri="{FF2B5EF4-FFF2-40B4-BE49-F238E27FC236}">
                <a16:creationId xmlns:a16="http://schemas.microsoft.com/office/drawing/2014/main" id="{B0941F4D-144E-4FDE-A20D-849CA4645A59}"/>
              </a:ext>
            </a:extLst>
          </p:cNvPr>
          <p:cNvSpPr/>
          <p:nvPr/>
        </p:nvSpPr>
        <p:spPr>
          <a:xfrm>
            <a:off x="2730692" y="2907566"/>
            <a:ext cx="2112264" cy="1792224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50800" dir="2700000" algn="bl" rotWithShape="0">
              <a:srgbClr val="C9D1DD">
                <a:alpha val="16000"/>
              </a:srgbClr>
            </a:outerShdw>
          </a:effectLst>
        </p:spPr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03724E48-D3A6-452D-A489-5C5B81B02186}"/>
              </a:ext>
            </a:extLst>
          </p:cNvPr>
          <p:cNvSpPr/>
          <p:nvPr/>
        </p:nvSpPr>
        <p:spPr>
          <a:xfrm>
            <a:off x="2895284" y="302643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0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BLUR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87644C09-3259-48F6-9686-99D1FE94C482}"/>
              </a:ext>
            </a:extLst>
          </p:cNvPr>
          <p:cNvSpPr/>
          <p:nvPr/>
        </p:nvSpPr>
        <p:spPr>
          <a:xfrm>
            <a:off x="2895284" y="327332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B778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흔들림 · 초점 흐림</a:t>
            </a:r>
            <a:endParaRPr lang="en-US" sz="92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2" name="Image 1" descr="/mnt/data/slide_assets/blur.png">
            <a:extLst>
              <a:ext uri="{FF2B5EF4-FFF2-40B4-BE49-F238E27FC236}">
                <a16:creationId xmlns:a16="http://schemas.microsoft.com/office/drawing/2014/main" id="{3C05EFF3-EE92-45D8-A6C8-BAFE4C052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284" y="3565934"/>
            <a:ext cx="1783080" cy="850392"/>
          </a:xfrm>
          <a:prstGeom prst="rect">
            <a:avLst/>
          </a:prstGeom>
        </p:spPr>
      </p:pic>
      <p:sp>
        <p:nvSpPr>
          <p:cNvPr id="53" name="Shape 28">
            <a:extLst>
              <a:ext uri="{FF2B5EF4-FFF2-40B4-BE49-F238E27FC236}">
                <a16:creationId xmlns:a16="http://schemas.microsoft.com/office/drawing/2014/main" id="{2BC434BB-859D-41B6-9E26-68E49A4AD814}"/>
              </a:ext>
            </a:extLst>
          </p:cNvPr>
          <p:cNvSpPr/>
          <p:nvPr/>
        </p:nvSpPr>
        <p:spPr>
          <a:xfrm>
            <a:off x="4970972" y="2907566"/>
            <a:ext cx="2112264" cy="1792224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50800" dir="2700000" algn="bl" rotWithShape="0">
              <a:srgbClr val="C9D1DD">
                <a:alpha val="16000"/>
              </a:srgbClr>
            </a:outerShdw>
          </a:effectLst>
        </p:spPr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8A2ECEC3-8A7C-4DC6-82EA-60C538379E9A}"/>
              </a:ext>
            </a:extLst>
          </p:cNvPr>
          <p:cNvSpPr/>
          <p:nvPr/>
        </p:nvSpPr>
        <p:spPr>
          <a:xfrm>
            <a:off x="5135564" y="302643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0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SHADOW / GLARE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75ABE683-B12A-4F06-A288-E03DE5F44C76}"/>
              </a:ext>
            </a:extLst>
          </p:cNvPr>
          <p:cNvSpPr/>
          <p:nvPr/>
        </p:nvSpPr>
        <p:spPr>
          <a:xfrm>
            <a:off x="5135564" y="327332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B778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그림자 · 빛 반사</a:t>
            </a:r>
            <a:endParaRPr lang="en-US" sz="92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6" name="Image 2" descr="/mnt/data/slide_assets/shadow_glare.png">
            <a:extLst>
              <a:ext uri="{FF2B5EF4-FFF2-40B4-BE49-F238E27FC236}">
                <a16:creationId xmlns:a16="http://schemas.microsoft.com/office/drawing/2014/main" id="{81605716-D3E8-456D-840C-F52F35B60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564" y="3565934"/>
            <a:ext cx="1783080" cy="850392"/>
          </a:xfrm>
          <a:prstGeom prst="rect">
            <a:avLst/>
          </a:prstGeom>
        </p:spPr>
      </p:pic>
      <p:sp>
        <p:nvSpPr>
          <p:cNvPr id="57" name="Shape 31">
            <a:extLst>
              <a:ext uri="{FF2B5EF4-FFF2-40B4-BE49-F238E27FC236}">
                <a16:creationId xmlns:a16="http://schemas.microsoft.com/office/drawing/2014/main" id="{6E29C01B-50FF-47D3-AD06-82083AD8997B}"/>
              </a:ext>
            </a:extLst>
          </p:cNvPr>
          <p:cNvSpPr/>
          <p:nvPr/>
        </p:nvSpPr>
        <p:spPr>
          <a:xfrm>
            <a:off x="7211252" y="2907566"/>
            <a:ext cx="2112264" cy="1792224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50800" dir="2700000" algn="bl" rotWithShape="0">
              <a:srgbClr val="C9D1DD">
                <a:alpha val="16000"/>
              </a:srgbClr>
            </a:outerShdw>
          </a:effectLst>
        </p:spPr>
      </p:sp>
      <p:sp>
        <p:nvSpPr>
          <p:cNvPr id="58" name="Text 32">
            <a:extLst>
              <a:ext uri="{FF2B5EF4-FFF2-40B4-BE49-F238E27FC236}">
                <a16:creationId xmlns:a16="http://schemas.microsoft.com/office/drawing/2014/main" id="{8B78DD33-94A5-4541-9CF7-A6E920049E78}"/>
              </a:ext>
            </a:extLst>
          </p:cNvPr>
          <p:cNvSpPr/>
          <p:nvPr/>
        </p:nvSpPr>
        <p:spPr>
          <a:xfrm>
            <a:off x="7375844" y="302643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0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OCCLUSION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 33">
            <a:extLst>
              <a:ext uri="{FF2B5EF4-FFF2-40B4-BE49-F238E27FC236}">
                <a16:creationId xmlns:a16="http://schemas.microsoft.com/office/drawing/2014/main" id="{2B459FDA-E45B-4E6C-B492-2DB8D8F8093D}"/>
              </a:ext>
            </a:extLst>
          </p:cNvPr>
          <p:cNvSpPr/>
          <p:nvPr/>
        </p:nvSpPr>
        <p:spPr>
          <a:xfrm>
            <a:off x="7375844" y="327332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B778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낙서 · 부분 가림</a:t>
            </a:r>
            <a:endParaRPr lang="en-US" sz="92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0" name="Image 3" descr="/mnt/data/slide_assets/occlusion.png">
            <a:extLst>
              <a:ext uri="{FF2B5EF4-FFF2-40B4-BE49-F238E27FC236}">
                <a16:creationId xmlns:a16="http://schemas.microsoft.com/office/drawing/2014/main" id="{369CAC88-A49E-4306-A059-AB5651F629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5844" y="3565934"/>
            <a:ext cx="1783080" cy="850392"/>
          </a:xfrm>
          <a:prstGeom prst="rect">
            <a:avLst/>
          </a:prstGeom>
        </p:spPr>
      </p:pic>
      <p:sp>
        <p:nvSpPr>
          <p:cNvPr id="61" name="Shape 9">
            <a:extLst>
              <a:ext uri="{FF2B5EF4-FFF2-40B4-BE49-F238E27FC236}">
                <a16:creationId xmlns:a16="http://schemas.microsoft.com/office/drawing/2014/main" id="{480718C5-1F3C-4072-A1E9-A1E9F7FA1DE6}"/>
              </a:ext>
            </a:extLst>
          </p:cNvPr>
          <p:cNvSpPr/>
          <p:nvPr/>
        </p:nvSpPr>
        <p:spPr>
          <a:xfrm>
            <a:off x="9750181" y="1761794"/>
            <a:ext cx="1965960" cy="349225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50800" dir="2700000" algn="bl" rotWithShape="0">
              <a:srgbClr val="C9D1DD">
                <a:alpha val="16000"/>
              </a:srgbClr>
            </a:outerShdw>
          </a:effectLst>
        </p:spPr>
      </p:sp>
      <p:sp>
        <p:nvSpPr>
          <p:cNvPr id="62" name="Text 10">
            <a:extLst>
              <a:ext uri="{FF2B5EF4-FFF2-40B4-BE49-F238E27FC236}">
                <a16:creationId xmlns:a16="http://schemas.microsoft.com/office/drawing/2014/main" id="{FBD24053-ED6B-484E-93FC-C7B336F07FC2}"/>
              </a:ext>
            </a:extLst>
          </p:cNvPr>
          <p:cNvSpPr/>
          <p:nvPr/>
        </p:nvSpPr>
        <p:spPr>
          <a:xfrm>
            <a:off x="9841621" y="208183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Test Macro-F1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2D91FC4F-E410-452F-86C9-3E9CD0D7451E}"/>
              </a:ext>
            </a:extLst>
          </p:cNvPr>
          <p:cNvSpPr/>
          <p:nvPr/>
        </p:nvSpPr>
        <p:spPr>
          <a:xfrm>
            <a:off x="9841621" y="2347010"/>
            <a:ext cx="1783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0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0.9878</a:t>
            </a:r>
            <a:endParaRPr 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Text 13">
            <a:extLst>
              <a:ext uri="{FF2B5EF4-FFF2-40B4-BE49-F238E27FC236}">
                <a16:creationId xmlns:a16="http://schemas.microsoft.com/office/drawing/2014/main" id="{DCE3FCB7-7854-48C2-AFC2-35AB7AB3A6A9}"/>
              </a:ext>
            </a:extLst>
          </p:cNvPr>
          <p:cNvSpPr/>
          <p:nvPr/>
        </p:nvSpPr>
        <p:spPr>
          <a:xfrm>
            <a:off x="9841621" y="363631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1차 대비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 14">
            <a:extLst>
              <a:ext uri="{FF2B5EF4-FFF2-40B4-BE49-F238E27FC236}">
                <a16:creationId xmlns:a16="http://schemas.microsoft.com/office/drawing/2014/main" id="{8FC75F6F-71E4-4A5F-AAC7-0C09E4EFB7B8}"/>
              </a:ext>
            </a:extLst>
          </p:cNvPr>
          <p:cNvSpPr/>
          <p:nvPr/>
        </p:nvSpPr>
        <p:spPr>
          <a:xfrm>
            <a:off x="9841621" y="3901490"/>
            <a:ext cx="1783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554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+1.87%p</a:t>
            </a:r>
            <a:endParaRPr lang="en-US" sz="2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9D2FDA63-DA12-4B03-AF8D-F20684821A06}"/>
              </a:ext>
            </a:extLst>
          </p:cNvPr>
          <p:cNvSpPr/>
          <p:nvPr/>
        </p:nvSpPr>
        <p:spPr>
          <a:xfrm>
            <a:off x="505597" y="1177254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554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해결할 문제</a:t>
            </a:r>
            <a:endParaRPr lang="en-US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Shape 3">
            <a:extLst>
              <a:ext uri="{FF2B5EF4-FFF2-40B4-BE49-F238E27FC236}">
                <a16:creationId xmlns:a16="http://schemas.microsoft.com/office/drawing/2014/main" id="{AAFEF389-FD09-4230-9414-8DCB7F49DFC6}"/>
              </a:ext>
            </a:extLst>
          </p:cNvPr>
          <p:cNvSpPr/>
          <p:nvPr/>
        </p:nvSpPr>
        <p:spPr>
          <a:xfrm>
            <a:off x="505597" y="1460718"/>
            <a:ext cx="489204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FF03D777-CECB-4BE7-8303-17C129446C97}"/>
              </a:ext>
            </a:extLst>
          </p:cNvPr>
          <p:cNvSpPr/>
          <p:nvPr/>
        </p:nvSpPr>
        <p:spPr>
          <a:xfrm>
            <a:off x="505597" y="1637229"/>
            <a:ext cx="597015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0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Baseline이 저화질·흐림·가림·그림자·반사 등 실제 Test 열화 </a:t>
            </a:r>
            <a:r>
              <a:rPr lang="en-US" sz="1350" b="1" dirty="0" err="1">
                <a:solidFill>
                  <a:srgbClr val="20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조건에</a:t>
            </a:r>
            <a:r>
              <a:rPr lang="en-US" sz="1350" b="1" dirty="0">
                <a:solidFill>
                  <a:srgbClr val="20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 </a:t>
            </a:r>
            <a:r>
              <a:rPr lang="en-US" sz="1350" b="1" dirty="0" err="1">
                <a:solidFill>
                  <a:srgbClr val="20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취약</a:t>
            </a:r>
            <a:endParaRPr lang="en-US" sz="13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348EEC25-12F0-4A29-A4EF-74989D6AADBB}"/>
              </a:ext>
            </a:extLst>
          </p:cNvPr>
          <p:cNvSpPr/>
          <p:nvPr/>
        </p:nvSpPr>
        <p:spPr>
          <a:xfrm>
            <a:off x="505598" y="506809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554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메소드 선정 이유</a:t>
            </a:r>
            <a:endParaRPr lang="en-US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Shape 6">
            <a:extLst>
              <a:ext uri="{FF2B5EF4-FFF2-40B4-BE49-F238E27FC236}">
                <a16:creationId xmlns:a16="http://schemas.microsoft.com/office/drawing/2014/main" id="{92578363-84F8-48EC-8B80-0C7006ECED8C}"/>
              </a:ext>
            </a:extLst>
          </p:cNvPr>
          <p:cNvSpPr/>
          <p:nvPr/>
        </p:nvSpPr>
        <p:spPr>
          <a:xfrm>
            <a:off x="505598" y="5351562"/>
            <a:ext cx="37947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62C31F0F-DF7D-449C-AB87-4582228960DE}"/>
              </a:ext>
            </a:extLst>
          </p:cNvPr>
          <p:cNvSpPr/>
          <p:nvPr/>
        </p:nvSpPr>
        <p:spPr>
          <a:xfrm>
            <a:off x="505597" y="5502212"/>
            <a:ext cx="894283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0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관찰된 실패 조건을 증강으로 </a:t>
            </a:r>
            <a:r>
              <a:rPr lang="en-US" sz="1220" b="1" dirty="0" err="1">
                <a:solidFill>
                  <a:srgbClr val="20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재현해</a:t>
            </a:r>
            <a:r>
              <a:rPr lang="en-US" sz="1220" b="1" dirty="0">
                <a:solidFill>
                  <a:srgbClr val="20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 </a:t>
            </a:r>
            <a:r>
              <a:rPr lang="en-US" sz="1220" b="1" dirty="0" err="1">
                <a:solidFill>
                  <a:srgbClr val="20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공통</a:t>
            </a:r>
            <a:r>
              <a:rPr lang="ko-KR" altLang="en-US" sz="1220" b="1" dirty="0">
                <a:solidFill>
                  <a:srgbClr val="20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적인 취약점을 보완</a:t>
            </a:r>
            <a:endParaRPr lang="en-US" sz="122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>
            <a:extLst>
              <a:ext uri="{FF2B5EF4-FFF2-40B4-BE49-F238E27FC236}">
                <a16:creationId xmlns:a16="http://schemas.microsoft.com/office/drawing/2014/main" id="{DAD3A0EE-5E73-48AE-B387-A600C1F777E5}"/>
              </a:ext>
            </a:extLst>
          </p:cNvPr>
          <p:cNvSpPr/>
          <p:nvPr/>
        </p:nvSpPr>
        <p:spPr>
          <a:xfrm>
            <a:off x="320040" y="22974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2226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문제 : 이미지 단위 분할의 한계</a:t>
            </a:r>
            <a:endParaRPr lang="en-US" sz="2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707EAA-0625-4E0F-BFDD-D9633580D53D}"/>
              </a:ext>
            </a:extLst>
          </p:cNvPr>
          <p:cNvSpPr txBox="1"/>
          <p:nvPr/>
        </p:nvSpPr>
        <p:spPr>
          <a:xfrm>
            <a:off x="351220" y="750434"/>
            <a:ext cx="8961120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50" b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처음 보는 표지판을 잘 맞추지 못했다.</a:t>
            </a:r>
            <a:endParaRPr sz="1150" b="0" dirty="0">
              <a:solidFill>
                <a:srgbClr val="606D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2AFB75-4E8F-4FC2-9E24-95040195C3B5}"/>
              </a:ext>
            </a:extLst>
          </p:cNvPr>
          <p:cNvSpPr txBox="1"/>
          <p:nvPr/>
        </p:nvSpPr>
        <p:spPr>
          <a:xfrm>
            <a:off x="396190" y="1309521"/>
            <a:ext cx="1280160" cy="2292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5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원인</a:t>
            </a:r>
          </a:p>
        </p:txBody>
      </p:sp>
      <p:cxnSp>
        <p:nvCxnSpPr>
          <p:cNvPr id="51" name="Connector 13">
            <a:extLst>
              <a:ext uri="{FF2B5EF4-FFF2-40B4-BE49-F238E27FC236}">
                <a16:creationId xmlns:a16="http://schemas.microsoft.com/office/drawing/2014/main" id="{5494BE5B-26B4-4183-A310-9E91B93B8326}"/>
              </a:ext>
            </a:extLst>
          </p:cNvPr>
          <p:cNvCxnSpPr/>
          <p:nvPr/>
        </p:nvCxnSpPr>
        <p:spPr>
          <a:xfrm>
            <a:off x="396190" y="1570472"/>
            <a:ext cx="11283696" cy="0"/>
          </a:xfrm>
          <a:prstGeom prst="line">
            <a:avLst/>
          </a:prstGeom>
          <a:ln w="12700">
            <a:solidFill>
              <a:srgbClr val="DC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62446B3-515E-4B57-9F58-EA9F3F393259}"/>
              </a:ext>
            </a:extLst>
          </p:cNvPr>
          <p:cNvSpPr txBox="1"/>
          <p:nvPr/>
        </p:nvSpPr>
        <p:spPr>
          <a:xfrm>
            <a:off x="688798" y="1684485"/>
            <a:ext cx="10698480" cy="8143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8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표지판의 프레임이 </a:t>
            </a:r>
            <a:r>
              <a:rPr lang="en-US" altLang="ko-KR" sz="18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  <a:r>
              <a:rPr lang="ko-KR" altLang="en-US" sz="18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en-US" altLang="ko-KR" sz="18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</a:t>
            </a:r>
            <a:r>
              <a:rPr lang="ko-KR" altLang="en-US" sz="18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중복되어</a:t>
            </a:r>
            <a:r>
              <a:rPr lang="en-US" altLang="ko-KR" sz="18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en-US" altLang="ko-KR" sz="18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  <a:r>
              <a:rPr lang="ko-KR" altLang="en-US" sz="18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제한된 표지판의 유사 프레임을 반복 학습했고 새로운 표지판 학습이 부족했음</a:t>
            </a:r>
            <a:endParaRPr lang="en-US" altLang="ko-KR" sz="1800" b="1" dirty="0">
              <a:solidFill>
                <a:srgbClr val="1F232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1D8BA8-4066-452E-8C8B-BC9D4EBEB4A0}"/>
              </a:ext>
            </a:extLst>
          </p:cNvPr>
          <p:cNvSpPr txBox="1"/>
          <p:nvPr/>
        </p:nvSpPr>
        <p:spPr>
          <a:xfrm>
            <a:off x="438912" y="3004812"/>
            <a:ext cx="2103120" cy="2292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5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왜 이런 일이 생겼는가</a:t>
            </a:r>
          </a:p>
        </p:txBody>
      </p:sp>
      <p:cxnSp>
        <p:nvCxnSpPr>
          <p:cNvPr id="55" name="Connector 17">
            <a:extLst>
              <a:ext uri="{FF2B5EF4-FFF2-40B4-BE49-F238E27FC236}">
                <a16:creationId xmlns:a16="http://schemas.microsoft.com/office/drawing/2014/main" id="{C958FBF5-1EAC-4617-A670-F1326493CF00}"/>
              </a:ext>
            </a:extLst>
          </p:cNvPr>
          <p:cNvCxnSpPr/>
          <p:nvPr/>
        </p:nvCxnSpPr>
        <p:spPr>
          <a:xfrm>
            <a:off x="438912" y="3303238"/>
            <a:ext cx="11283696" cy="0"/>
          </a:xfrm>
          <a:prstGeom prst="line">
            <a:avLst/>
          </a:prstGeom>
          <a:ln w="12700">
            <a:solidFill>
              <a:srgbClr val="DC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47">
            <a:extLst>
              <a:ext uri="{FF2B5EF4-FFF2-40B4-BE49-F238E27FC236}">
                <a16:creationId xmlns:a16="http://schemas.microsoft.com/office/drawing/2014/main" id="{AD51E31D-D4D4-427C-9B4B-A9EF62BB5A95}"/>
              </a:ext>
            </a:extLst>
          </p:cNvPr>
          <p:cNvCxnSpPr/>
          <p:nvPr/>
        </p:nvCxnSpPr>
        <p:spPr>
          <a:xfrm>
            <a:off x="438912" y="5332754"/>
            <a:ext cx="11283696" cy="0"/>
          </a:xfrm>
          <a:prstGeom prst="line">
            <a:avLst/>
          </a:prstGeom>
          <a:ln w="12700">
            <a:solidFill>
              <a:srgbClr val="DC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19">
            <a:extLst>
              <a:ext uri="{FF2B5EF4-FFF2-40B4-BE49-F238E27FC236}">
                <a16:creationId xmlns:a16="http://schemas.microsoft.com/office/drawing/2014/main" id="{63E38F20-3EF2-40D9-8091-1F5386D88F8C}"/>
              </a:ext>
            </a:extLst>
          </p:cNvPr>
          <p:cNvSpPr/>
          <p:nvPr/>
        </p:nvSpPr>
        <p:spPr>
          <a:xfrm>
            <a:off x="475488" y="3572395"/>
            <a:ext cx="264718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4986607-AC05-4E2C-95EA-B6C8057E8552}"/>
              </a:ext>
            </a:extLst>
          </p:cNvPr>
          <p:cNvSpPr txBox="1"/>
          <p:nvPr/>
        </p:nvSpPr>
        <p:spPr>
          <a:xfrm>
            <a:off x="621792" y="3747631"/>
            <a:ext cx="310896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FD5896F-AD25-405D-945E-D24183C0D730}"/>
              </a:ext>
            </a:extLst>
          </p:cNvPr>
          <p:cNvSpPr txBox="1"/>
          <p:nvPr/>
        </p:nvSpPr>
        <p:spPr>
          <a:xfrm>
            <a:off x="978409" y="3655254"/>
            <a:ext cx="1979676" cy="3847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3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</a:t>
            </a:r>
            <a:r>
              <a:rPr sz="113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표지판에서</a:t>
            </a:r>
            <a:r>
              <a:rPr sz="113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sz="1130" b="1" dirty="0">
              <a:solidFill>
                <a:srgbClr val="1F232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sz="113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다수</a:t>
            </a:r>
            <a:r>
              <a:rPr sz="113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3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프레임</a:t>
            </a:r>
            <a:r>
              <a:rPr sz="113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3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  <a:endParaRPr sz="1130" b="1" dirty="0">
              <a:solidFill>
                <a:srgbClr val="1F232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DF79244-E96F-41F4-9635-A347164E02C4}"/>
              </a:ext>
            </a:extLst>
          </p:cNvPr>
          <p:cNvSpPr txBox="1"/>
          <p:nvPr/>
        </p:nvSpPr>
        <p:spPr>
          <a:xfrm>
            <a:off x="640080" y="4316878"/>
            <a:ext cx="2318004" cy="341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90" b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1개 track에 동일 표지판의
유사한 이미지가 반복 존재</a:t>
            </a:r>
          </a:p>
        </p:txBody>
      </p:sp>
      <p:sp>
        <p:nvSpPr>
          <p:cNvPr id="132" name="Rounded Rectangle 23">
            <a:extLst>
              <a:ext uri="{FF2B5EF4-FFF2-40B4-BE49-F238E27FC236}">
                <a16:creationId xmlns:a16="http://schemas.microsoft.com/office/drawing/2014/main" id="{6B6D9DA2-7467-4642-8F9B-70A0EB9003A8}"/>
              </a:ext>
            </a:extLst>
          </p:cNvPr>
          <p:cNvSpPr/>
          <p:nvPr/>
        </p:nvSpPr>
        <p:spPr>
          <a:xfrm>
            <a:off x="3342132" y="3572395"/>
            <a:ext cx="264718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35D1ADA-3ABE-4164-8E66-109481699069}"/>
              </a:ext>
            </a:extLst>
          </p:cNvPr>
          <p:cNvSpPr txBox="1"/>
          <p:nvPr/>
        </p:nvSpPr>
        <p:spPr>
          <a:xfrm>
            <a:off x="3488436" y="3747631"/>
            <a:ext cx="310896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8C6CC96-F785-4AC3-A3D2-17F136CEF06A}"/>
              </a:ext>
            </a:extLst>
          </p:cNvPr>
          <p:cNvSpPr txBox="1"/>
          <p:nvPr/>
        </p:nvSpPr>
        <p:spPr>
          <a:xfrm>
            <a:off x="3845051" y="3655254"/>
            <a:ext cx="1988819" cy="3847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3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</a:t>
            </a:r>
            <a:r>
              <a:rPr sz="113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3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단위로</a:t>
            </a:r>
            <a:r>
              <a:rPr sz="113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sz="1130" b="1" dirty="0">
              <a:solidFill>
                <a:srgbClr val="1F232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sz="113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무작위</a:t>
            </a:r>
            <a:r>
              <a:rPr sz="113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3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분할</a:t>
            </a:r>
            <a:endParaRPr sz="1130" b="1" dirty="0">
              <a:solidFill>
                <a:srgbClr val="1F232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2F3A1F2-A01B-49CA-AC6C-22192C6AA531}"/>
              </a:ext>
            </a:extLst>
          </p:cNvPr>
          <p:cNvSpPr txBox="1"/>
          <p:nvPr/>
        </p:nvSpPr>
        <p:spPr>
          <a:xfrm>
            <a:off x="3506724" y="4316878"/>
            <a:ext cx="2318004" cy="341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90" b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track을 고려하지 않고
각 프레임을 Train·Validation에 배치</a:t>
            </a:r>
          </a:p>
        </p:txBody>
      </p:sp>
      <p:sp>
        <p:nvSpPr>
          <p:cNvPr id="136" name="Rounded Rectangle 27">
            <a:extLst>
              <a:ext uri="{FF2B5EF4-FFF2-40B4-BE49-F238E27FC236}">
                <a16:creationId xmlns:a16="http://schemas.microsoft.com/office/drawing/2014/main" id="{273D772A-6810-47C8-AF13-0C48363CDC1F}"/>
              </a:ext>
            </a:extLst>
          </p:cNvPr>
          <p:cNvSpPr/>
          <p:nvPr/>
        </p:nvSpPr>
        <p:spPr>
          <a:xfrm>
            <a:off x="6208776" y="3572395"/>
            <a:ext cx="264718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50384C2-28E7-480A-AD42-1D78A33FDE62}"/>
              </a:ext>
            </a:extLst>
          </p:cNvPr>
          <p:cNvSpPr txBox="1"/>
          <p:nvPr/>
        </p:nvSpPr>
        <p:spPr>
          <a:xfrm>
            <a:off x="6355080" y="3747631"/>
            <a:ext cx="310896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BCE6A5B-9CCF-4E9F-A698-EE81A115DE45}"/>
              </a:ext>
            </a:extLst>
          </p:cNvPr>
          <p:cNvSpPr txBox="1"/>
          <p:nvPr/>
        </p:nvSpPr>
        <p:spPr>
          <a:xfrm>
            <a:off x="6711695" y="3655254"/>
            <a:ext cx="1988819" cy="3847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3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Train이</a:t>
            </a:r>
            <a:r>
              <a:rPr sz="113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3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유사</a:t>
            </a:r>
            <a:r>
              <a:rPr sz="113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3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프레임을</a:t>
            </a:r>
            <a:r>
              <a:rPr sz="113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sz="1130" b="1" dirty="0">
              <a:solidFill>
                <a:srgbClr val="1F232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sz="113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</a:t>
            </a:r>
            <a:r>
              <a:rPr sz="113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3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endParaRPr sz="1130" b="1" dirty="0">
              <a:solidFill>
                <a:srgbClr val="1F232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DF2421E-99BA-4F77-86E3-C0B0A57AF671}"/>
              </a:ext>
            </a:extLst>
          </p:cNvPr>
          <p:cNvSpPr txBox="1"/>
          <p:nvPr/>
        </p:nvSpPr>
        <p:spPr>
          <a:xfrm>
            <a:off x="6373367" y="4316878"/>
            <a:ext cx="2318004" cy="341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90" b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수는 많지만
학습한 물리적 표지판 개체는 제한적</a:t>
            </a:r>
          </a:p>
        </p:txBody>
      </p:sp>
      <p:sp>
        <p:nvSpPr>
          <p:cNvPr id="140" name="Rounded Rectangle 31">
            <a:extLst>
              <a:ext uri="{FF2B5EF4-FFF2-40B4-BE49-F238E27FC236}">
                <a16:creationId xmlns:a16="http://schemas.microsoft.com/office/drawing/2014/main" id="{1A4BB4A8-866A-4702-9500-872C2CCBC0F5}"/>
              </a:ext>
            </a:extLst>
          </p:cNvPr>
          <p:cNvSpPr/>
          <p:nvPr/>
        </p:nvSpPr>
        <p:spPr>
          <a:xfrm>
            <a:off x="9075420" y="3572395"/>
            <a:ext cx="2647188" cy="1417320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F5B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DE398A7-68F8-4AA8-85D0-EB34B6663A6D}"/>
              </a:ext>
            </a:extLst>
          </p:cNvPr>
          <p:cNvSpPr txBox="1"/>
          <p:nvPr/>
        </p:nvSpPr>
        <p:spPr>
          <a:xfrm>
            <a:off x="9221724" y="3747631"/>
            <a:ext cx="310896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7775906-5791-4186-A525-812D98C5AD02}"/>
              </a:ext>
            </a:extLst>
          </p:cNvPr>
          <p:cNvSpPr txBox="1"/>
          <p:nvPr/>
        </p:nvSpPr>
        <p:spPr>
          <a:xfrm>
            <a:off x="9578340" y="3655254"/>
            <a:ext cx="1988819" cy="3847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30" b="1" dirty="0" err="1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</a:t>
            </a:r>
            <a:r>
              <a:rPr sz="1130" b="1" dirty="0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30" b="1" dirty="0" err="1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표지판</a:t>
            </a:r>
            <a:r>
              <a:rPr sz="1130" b="1" dirty="0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sz="1130" b="1" dirty="0">
              <a:solidFill>
                <a:srgbClr val="DC3A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sz="1130" b="1" dirty="0" err="1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일반화</a:t>
            </a:r>
            <a:r>
              <a:rPr sz="1130" b="1" dirty="0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30" b="1" dirty="0" err="1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부족</a:t>
            </a:r>
            <a:endParaRPr sz="1130" b="1" dirty="0">
              <a:solidFill>
                <a:srgbClr val="DC3A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3EFFB34-6C10-40B8-B470-37215571C265}"/>
              </a:ext>
            </a:extLst>
          </p:cNvPr>
          <p:cNvSpPr txBox="1"/>
          <p:nvPr/>
        </p:nvSpPr>
        <p:spPr>
          <a:xfrm>
            <a:off x="9240012" y="4316878"/>
            <a:ext cx="2318004" cy="341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90" b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Validation은 본 개체와 유사해 높지만
Test의 새로운 개체에는 취약</a:t>
            </a:r>
          </a:p>
        </p:txBody>
      </p:sp>
      <p:sp>
        <p:nvSpPr>
          <p:cNvPr id="145" name="Chevron 36">
            <a:extLst>
              <a:ext uri="{FF2B5EF4-FFF2-40B4-BE49-F238E27FC236}">
                <a16:creationId xmlns:a16="http://schemas.microsoft.com/office/drawing/2014/main" id="{9BFA8C17-929D-451C-9AB5-D3B1F296951A}"/>
              </a:ext>
            </a:extLst>
          </p:cNvPr>
          <p:cNvSpPr/>
          <p:nvPr/>
        </p:nvSpPr>
        <p:spPr>
          <a:xfrm>
            <a:off x="3187433" y="4236234"/>
            <a:ext cx="109728" cy="164592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7" name="Chevron 38">
            <a:extLst>
              <a:ext uri="{FF2B5EF4-FFF2-40B4-BE49-F238E27FC236}">
                <a16:creationId xmlns:a16="http://schemas.microsoft.com/office/drawing/2014/main" id="{0A682177-6450-493B-B657-2ED1B311071F}"/>
              </a:ext>
            </a:extLst>
          </p:cNvPr>
          <p:cNvSpPr/>
          <p:nvPr/>
        </p:nvSpPr>
        <p:spPr>
          <a:xfrm>
            <a:off x="6054077" y="4236234"/>
            <a:ext cx="109728" cy="164592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9" name="Chevron 40">
            <a:extLst>
              <a:ext uri="{FF2B5EF4-FFF2-40B4-BE49-F238E27FC236}">
                <a16:creationId xmlns:a16="http://schemas.microsoft.com/office/drawing/2014/main" id="{0F0BBD8D-AB89-4ACC-BA27-F36D93BA1746}"/>
              </a:ext>
            </a:extLst>
          </p:cNvPr>
          <p:cNvSpPr/>
          <p:nvPr/>
        </p:nvSpPr>
        <p:spPr>
          <a:xfrm>
            <a:off x="8920722" y="4236234"/>
            <a:ext cx="109728" cy="164592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525B9D6-0C57-40B2-80AB-A456E54E1490}"/>
              </a:ext>
            </a:extLst>
          </p:cNvPr>
          <p:cNvSpPr txBox="1"/>
          <p:nvPr/>
        </p:nvSpPr>
        <p:spPr>
          <a:xfrm>
            <a:off x="640080" y="5897428"/>
            <a:ext cx="10972800" cy="23237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7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따라서</a:t>
            </a:r>
            <a:r>
              <a:rPr sz="127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27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</a:t>
            </a:r>
            <a:r>
              <a:rPr sz="127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27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단계의</a:t>
            </a:r>
            <a:r>
              <a:rPr sz="127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27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핵심은</a:t>
            </a:r>
            <a:r>
              <a:rPr sz="127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27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서로</a:t>
            </a:r>
            <a:r>
              <a:rPr sz="127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27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</a:t>
            </a:r>
            <a:r>
              <a:rPr sz="127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27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물리적</a:t>
            </a:r>
            <a:r>
              <a:rPr sz="127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27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표지판을</a:t>
            </a:r>
            <a:r>
              <a:rPr sz="127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더 </a:t>
            </a:r>
            <a:r>
              <a:rPr sz="127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폭넓게</a:t>
            </a:r>
            <a:r>
              <a:rPr sz="127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27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학습하도록</a:t>
            </a:r>
            <a:r>
              <a:rPr sz="127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27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sz="127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27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분할과</a:t>
            </a:r>
            <a:r>
              <a:rPr sz="127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27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sz="127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27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방식</a:t>
            </a:r>
            <a:r>
              <a:rPr lang="en-US" sz="127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7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 필요</a:t>
            </a:r>
            <a:endParaRPr sz="1270" b="1" dirty="0">
              <a:solidFill>
                <a:srgbClr val="1F232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939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13AA45-46B3-4502-8983-AFED5DC632B2}"/>
              </a:ext>
            </a:extLst>
          </p:cNvPr>
          <p:cNvSpPr txBox="1"/>
          <p:nvPr/>
        </p:nvSpPr>
        <p:spPr>
          <a:xfrm>
            <a:off x="347472" y="172986"/>
            <a:ext cx="8686800" cy="4139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5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3차 </a:t>
            </a:r>
            <a:r>
              <a:rPr sz="245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접근</a:t>
            </a:r>
            <a:r>
              <a:rPr sz="245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Track-aware 5-Fold OOF + Fold Ensemble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250A0-2901-4087-884E-B5657C7663D9}"/>
              </a:ext>
            </a:extLst>
          </p:cNvPr>
          <p:cNvSpPr txBox="1"/>
          <p:nvPr/>
        </p:nvSpPr>
        <p:spPr>
          <a:xfrm>
            <a:off x="438912" y="946827"/>
            <a:ext cx="1371600" cy="2277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40" b="1" dirty="0" err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</a:t>
            </a:r>
            <a:r>
              <a:rPr sz="1240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240" b="1" dirty="0" err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  <a:r>
              <a:rPr sz="1240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240" b="1" dirty="0" err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이유</a:t>
            </a:r>
            <a:endParaRPr sz="1240" b="1" dirty="0">
              <a:solidFill>
                <a:srgbClr val="1C5CD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593E02-480F-4A19-A98F-A2E84B3AF7DA}"/>
              </a:ext>
            </a:extLst>
          </p:cNvPr>
          <p:cNvSpPr txBox="1"/>
          <p:nvPr/>
        </p:nvSpPr>
        <p:spPr>
          <a:xfrm>
            <a:off x="67268" y="1485606"/>
            <a:ext cx="7882127" cy="43704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 </a:t>
            </a:r>
            <a:r>
              <a:rPr sz="130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</a:t>
            </a:r>
            <a:r>
              <a:rPr sz="13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0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분리로</a:t>
            </a:r>
            <a:r>
              <a:rPr sz="13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0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</a:t>
            </a:r>
            <a:r>
              <a:rPr sz="13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0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표지판의</a:t>
            </a:r>
            <a:r>
              <a:rPr sz="13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0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</a:t>
            </a:r>
            <a:r>
              <a:rPr sz="13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0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학습을</a:t>
            </a:r>
            <a:r>
              <a:rPr sz="13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0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줄이고</a:t>
            </a:r>
            <a:r>
              <a:rPr sz="13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endParaRPr lang="en-US" sz="1300" b="1" dirty="0">
              <a:solidFill>
                <a:srgbClr val="1F232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sz="13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5-Fold로 </a:t>
            </a:r>
            <a:r>
              <a:rPr sz="130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모든</a:t>
            </a:r>
            <a:r>
              <a:rPr sz="13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0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track을</a:t>
            </a:r>
            <a:r>
              <a:rPr sz="13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한 </a:t>
            </a:r>
            <a:r>
              <a:rPr sz="130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번씩</a:t>
            </a:r>
            <a:r>
              <a:rPr sz="13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0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독립적으로</a:t>
            </a:r>
            <a:r>
              <a:rPr sz="13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0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평가·학습하여</a:t>
            </a:r>
            <a:r>
              <a:rPr sz="13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0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단일</a:t>
            </a:r>
            <a:r>
              <a:rPr sz="13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0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split의</a:t>
            </a:r>
            <a:r>
              <a:rPr sz="13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0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우연성</a:t>
            </a:r>
            <a:r>
              <a:rPr lang="en-US" sz="13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0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제어</a:t>
            </a:r>
            <a:endParaRPr sz="1300" b="1" dirty="0">
              <a:solidFill>
                <a:srgbClr val="1F232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B9D99D-D1C8-43A3-96FD-360A177B691E}"/>
              </a:ext>
            </a:extLst>
          </p:cNvPr>
          <p:cNvSpPr txBox="1"/>
          <p:nvPr/>
        </p:nvSpPr>
        <p:spPr>
          <a:xfrm>
            <a:off x="621792" y="2641491"/>
            <a:ext cx="310896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CE4750-63B1-4F21-A9B1-AA62481B9A7C}"/>
              </a:ext>
            </a:extLst>
          </p:cNvPr>
          <p:cNvSpPr txBox="1"/>
          <p:nvPr/>
        </p:nvSpPr>
        <p:spPr>
          <a:xfrm>
            <a:off x="987552" y="2615419"/>
            <a:ext cx="2907791" cy="22467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2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Track-aware Split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1AFC03-52D3-4A9B-B196-E322EDECE8FF}"/>
              </a:ext>
            </a:extLst>
          </p:cNvPr>
          <p:cNvSpPr txBox="1"/>
          <p:nvPr/>
        </p:nvSpPr>
        <p:spPr>
          <a:xfrm>
            <a:off x="476799" y="3081093"/>
            <a:ext cx="3236976" cy="363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</a:t>
            </a:r>
            <a:r>
              <a:rPr sz="106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표지판의</a:t>
            </a:r>
            <a:r>
              <a:rPr sz="106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모든</a:t>
            </a:r>
            <a:r>
              <a:rPr sz="106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프레임을</a:t>
            </a:r>
            <a:r>
              <a:rPr sz="106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
</a:t>
            </a:r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하나의</a:t>
            </a:r>
            <a:r>
              <a:rPr sz="106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fold에만</a:t>
            </a:r>
            <a:r>
              <a:rPr sz="106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배치</a:t>
            </a:r>
            <a:endParaRPr sz="1060" b="0" dirty="0">
              <a:solidFill>
                <a:srgbClr val="606D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E9C015-6D03-4988-B46C-D0AE4274BF79}"/>
              </a:ext>
            </a:extLst>
          </p:cNvPr>
          <p:cNvSpPr txBox="1"/>
          <p:nvPr/>
        </p:nvSpPr>
        <p:spPr>
          <a:xfrm>
            <a:off x="618906" y="3925008"/>
            <a:ext cx="1412474" cy="1769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10" b="1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image split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74C6E4-0209-4774-A0A5-441C78F653FF}"/>
              </a:ext>
            </a:extLst>
          </p:cNvPr>
          <p:cNvSpPr txBox="1"/>
          <p:nvPr/>
        </p:nvSpPr>
        <p:spPr>
          <a:xfrm>
            <a:off x="2180881" y="3932503"/>
            <a:ext cx="1412474" cy="1769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10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track-aware split</a:t>
            </a: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41444BFA-0612-453D-BDF7-F91DAE4C4C04}"/>
              </a:ext>
            </a:extLst>
          </p:cNvPr>
          <p:cNvSpPr/>
          <p:nvPr/>
        </p:nvSpPr>
        <p:spPr>
          <a:xfrm>
            <a:off x="647986" y="4137582"/>
            <a:ext cx="1330591" cy="770134"/>
          </a:xfrm>
          <a:prstGeom prst="rect">
            <a:avLst/>
          </a:prstGeom>
          <a:solidFill>
            <a:srgbClr val="FFF8F8"/>
          </a:solidFill>
          <a:ln w="10160">
            <a:solidFill>
              <a:srgbClr val="F2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5EC9EA-1406-406E-B8F6-A1A371784B1A}"/>
              </a:ext>
            </a:extLst>
          </p:cNvPr>
          <p:cNvSpPr txBox="1"/>
          <p:nvPr/>
        </p:nvSpPr>
        <p:spPr>
          <a:xfrm>
            <a:off x="681265" y="4178337"/>
            <a:ext cx="57317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57EC2C-3E76-46CB-98D1-D5100D5F160D}"/>
              </a:ext>
            </a:extLst>
          </p:cNvPr>
          <p:cNvSpPr txBox="1"/>
          <p:nvPr/>
        </p:nvSpPr>
        <p:spPr>
          <a:xfrm>
            <a:off x="1284769" y="4178337"/>
            <a:ext cx="57317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</a:t>
            </a:r>
          </a:p>
        </p:txBody>
      </p: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62D2CC1F-0D20-40D6-A4C6-9883C7677F82}"/>
              </a:ext>
            </a:extLst>
          </p:cNvPr>
          <p:cNvSpPr/>
          <p:nvPr/>
        </p:nvSpPr>
        <p:spPr>
          <a:xfrm>
            <a:off x="717841" y="4353739"/>
            <a:ext cx="245648" cy="19253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8AEA2D-F155-4C8C-BCA0-9D2855CDEDBB}"/>
              </a:ext>
            </a:extLst>
          </p:cNvPr>
          <p:cNvSpPr txBox="1"/>
          <p:nvPr/>
        </p:nvSpPr>
        <p:spPr>
          <a:xfrm>
            <a:off x="717841" y="4377678"/>
            <a:ext cx="24564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</a:t>
            </a:r>
          </a:p>
        </p:txBody>
      </p:sp>
      <p:sp>
        <p:nvSpPr>
          <p:cNvPr id="24" name="Rounded Rectangle 21">
            <a:extLst>
              <a:ext uri="{FF2B5EF4-FFF2-40B4-BE49-F238E27FC236}">
                <a16:creationId xmlns:a16="http://schemas.microsoft.com/office/drawing/2014/main" id="{581CF212-14C7-46FE-A7F8-A5EEE3617712}"/>
              </a:ext>
            </a:extLst>
          </p:cNvPr>
          <p:cNvSpPr/>
          <p:nvPr/>
        </p:nvSpPr>
        <p:spPr>
          <a:xfrm>
            <a:off x="973873" y="4353739"/>
            <a:ext cx="245648" cy="19253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6ED273-1039-4054-AD02-107B5D3E586A}"/>
              </a:ext>
            </a:extLst>
          </p:cNvPr>
          <p:cNvSpPr txBox="1"/>
          <p:nvPr/>
        </p:nvSpPr>
        <p:spPr>
          <a:xfrm>
            <a:off x="973873" y="4377678"/>
            <a:ext cx="24564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B1</a:t>
            </a:r>
          </a:p>
        </p:txBody>
      </p:sp>
      <p:sp>
        <p:nvSpPr>
          <p:cNvPr id="26" name="Rounded Rectangle 23">
            <a:extLst>
              <a:ext uri="{FF2B5EF4-FFF2-40B4-BE49-F238E27FC236}">
                <a16:creationId xmlns:a16="http://schemas.microsoft.com/office/drawing/2014/main" id="{573DB4D1-8390-47C9-A295-72D7DA956FF7}"/>
              </a:ext>
            </a:extLst>
          </p:cNvPr>
          <p:cNvSpPr/>
          <p:nvPr/>
        </p:nvSpPr>
        <p:spPr>
          <a:xfrm>
            <a:off x="1321345" y="4353739"/>
            <a:ext cx="245648" cy="19253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C5E449-89EE-43FC-A493-90CCE03198A6}"/>
              </a:ext>
            </a:extLst>
          </p:cNvPr>
          <p:cNvSpPr txBox="1"/>
          <p:nvPr/>
        </p:nvSpPr>
        <p:spPr>
          <a:xfrm>
            <a:off x="1321345" y="4377678"/>
            <a:ext cx="24564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A2</a:t>
            </a:r>
          </a:p>
        </p:txBody>
      </p:sp>
      <p:sp>
        <p:nvSpPr>
          <p:cNvPr id="28" name="Rounded Rectangle 25">
            <a:extLst>
              <a:ext uri="{FF2B5EF4-FFF2-40B4-BE49-F238E27FC236}">
                <a16:creationId xmlns:a16="http://schemas.microsoft.com/office/drawing/2014/main" id="{1EA2E625-C81A-4F35-BB3A-B883355FF744}"/>
              </a:ext>
            </a:extLst>
          </p:cNvPr>
          <p:cNvSpPr/>
          <p:nvPr/>
        </p:nvSpPr>
        <p:spPr>
          <a:xfrm>
            <a:off x="1577377" y="4353739"/>
            <a:ext cx="245648" cy="19253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D96D73-7455-49D1-9FA7-20DC432F1F4B}"/>
              </a:ext>
            </a:extLst>
          </p:cNvPr>
          <p:cNvSpPr txBox="1"/>
          <p:nvPr/>
        </p:nvSpPr>
        <p:spPr>
          <a:xfrm>
            <a:off x="1577377" y="4377678"/>
            <a:ext cx="24564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808B43-7FEA-4566-9CC6-5C78E3E29D72}"/>
              </a:ext>
            </a:extLst>
          </p:cNvPr>
          <p:cNvSpPr txBox="1"/>
          <p:nvPr/>
        </p:nvSpPr>
        <p:spPr>
          <a:xfrm>
            <a:off x="662976" y="4569991"/>
            <a:ext cx="1330591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40" b="1" dirty="0" err="1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</a:t>
            </a:r>
            <a:r>
              <a:rPr sz="740" b="1" dirty="0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track </a:t>
            </a:r>
            <a:r>
              <a:rPr sz="740" b="1" dirty="0" err="1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A가</a:t>
            </a:r>
            <a:r>
              <a:rPr sz="740" b="1" dirty="0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740" b="1" dirty="0" err="1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양쪽에</a:t>
            </a:r>
            <a:r>
              <a:rPr sz="740" b="1" dirty="0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740" b="1" dirty="0" err="1">
                <a:solidFill>
                  <a:srgbClr val="DC3A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존재</a:t>
            </a:r>
            <a:endParaRPr sz="740" b="1" dirty="0">
              <a:solidFill>
                <a:srgbClr val="DC3A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Rectangle 28">
            <a:extLst>
              <a:ext uri="{FF2B5EF4-FFF2-40B4-BE49-F238E27FC236}">
                <a16:creationId xmlns:a16="http://schemas.microsoft.com/office/drawing/2014/main" id="{BE4B1A78-2C76-4A7F-8D36-B0A5A992B4FE}"/>
              </a:ext>
            </a:extLst>
          </p:cNvPr>
          <p:cNvSpPr/>
          <p:nvPr/>
        </p:nvSpPr>
        <p:spPr>
          <a:xfrm>
            <a:off x="2194971" y="4137582"/>
            <a:ext cx="1330591" cy="770134"/>
          </a:xfrm>
          <a:prstGeom prst="rect">
            <a:avLst/>
          </a:prstGeom>
          <a:solidFill>
            <a:srgbClr val="EFF5FF"/>
          </a:solidFill>
          <a:ln w="10160">
            <a:solidFill>
              <a:srgbClr val="AFC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3D78AC-E089-4ACA-94B4-EA0B5191F5B9}"/>
              </a:ext>
            </a:extLst>
          </p:cNvPr>
          <p:cNvSpPr txBox="1"/>
          <p:nvPr/>
        </p:nvSpPr>
        <p:spPr>
          <a:xfrm>
            <a:off x="2235745" y="4178337"/>
            <a:ext cx="57317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D7B03F-C2D3-42DF-84B1-B2DE479BA4CC}"/>
              </a:ext>
            </a:extLst>
          </p:cNvPr>
          <p:cNvSpPr txBox="1"/>
          <p:nvPr/>
        </p:nvSpPr>
        <p:spPr>
          <a:xfrm>
            <a:off x="2839249" y="4178337"/>
            <a:ext cx="57317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2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</a:t>
            </a:r>
          </a:p>
        </p:txBody>
      </p:sp>
      <p:sp>
        <p:nvSpPr>
          <p:cNvPr id="34" name="Rounded Rectangle 31">
            <a:extLst>
              <a:ext uri="{FF2B5EF4-FFF2-40B4-BE49-F238E27FC236}">
                <a16:creationId xmlns:a16="http://schemas.microsoft.com/office/drawing/2014/main" id="{DFC25AA6-ACC7-44D2-8E56-C39450D5B21D}"/>
              </a:ext>
            </a:extLst>
          </p:cNvPr>
          <p:cNvSpPr/>
          <p:nvPr/>
        </p:nvSpPr>
        <p:spPr>
          <a:xfrm>
            <a:off x="2272321" y="4353739"/>
            <a:ext cx="453002" cy="19253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C5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877D6F-4816-4C42-A858-942386A3D270}"/>
              </a:ext>
            </a:extLst>
          </p:cNvPr>
          <p:cNvSpPr txBox="1"/>
          <p:nvPr/>
        </p:nvSpPr>
        <p:spPr>
          <a:xfrm>
            <a:off x="2272148" y="4370182"/>
            <a:ext cx="463325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A1</a:t>
            </a:r>
            <a:r>
              <a:rPr lang="en-US" sz="700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~ A30</a:t>
            </a:r>
            <a:endParaRPr sz="700" b="1" dirty="0">
              <a:solidFill>
                <a:srgbClr val="1C5CD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D5EF13-5701-4531-A996-C79F70822980}"/>
              </a:ext>
            </a:extLst>
          </p:cNvPr>
          <p:cNvSpPr txBox="1"/>
          <p:nvPr/>
        </p:nvSpPr>
        <p:spPr>
          <a:xfrm>
            <a:off x="2217456" y="4569991"/>
            <a:ext cx="1330591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40" b="1" dirty="0" err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</a:t>
            </a:r>
            <a:r>
              <a:rPr sz="740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740" b="1" dirty="0" err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track은</a:t>
            </a:r>
            <a:r>
              <a:rPr sz="740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740" b="1" dirty="0" err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한쪽에만</a:t>
            </a:r>
            <a:r>
              <a:rPr sz="740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740" b="1" dirty="0" err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배치</a:t>
            </a:r>
            <a:endParaRPr sz="740" b="1" dirty="0">
              <a:solidFill>
                <a:srgbClr val="1C5CD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4C56D7-3E82-4F73-9AF7-94253E5DE8A7}"/>
              </a:ext>
            </a:extLst>
          </p:cNvPr>
          <p:cNvSpPr txBox="1"/>
          <p:nvPr/>
        </p:nvSpPr>
        <p:spPr>
          <a:xfrm>
            <a:off x="438912" y="5722575"/>
            <a:ext cx="3273552" cy="35060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표지판의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유사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프레임이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
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Train·Validation에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함께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들어가는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문제를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제거</a:t>
            </a:r>
            <a:endParaRPr sz="1019" b="1" dirty="0">
              <a:solidFill>
                <a:srgbClr val="1F232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D28EF4-9F1A-453A-96DC-F74E75ED95E9}"/>
              </a:ext>
            </a:extLst>
          </p:cNvPr>
          <p:cNvSpPr txBox="1"/>
          <p:nvPr/>
        </p:nvSpPr>
        <p:spPr>
          <a:xfrm>
            <a:off x="4443983" y="2641491"/>
            <a:ext cx="310896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E58ECF-C6A6-4975-B3F8-F0BB083273CD}"/>
              </a:ext>
            </a:extLst>
          </p:cNvPr>
          <p:cNvSpPr txBox="1"/>
          <p:nvPr/>
        </p:nvSpPr>
        <p:spPr>
          <a:xfrm>
            <a:off x="4809744" y="2615419"/>
            <a:ext cx="2907791" cy="22467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2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5-Fold OOF</a:t>
            </a:r>
            <a:r>
              <a:rPr lang="en-US" sz="122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2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(Out of Fold)</a:t>
            </a:r>
            <a:endParaRPr sz="122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2F9DDF-3814-423B-A399-895716EBB8F3}"/>
              </a:ext>
            </a:extLst>
          </p:cNvPr>
          <p:cNvSpPr txBox="1"/>
          <p:nvPr/>
        </p:nvSpPr>
        <p:spPr>
          <a:xfrm>
            <a:off x="4328071" y="3071349"/>
            <a:ext cx="3236976" cy="363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서로</a:t>
            </a:r>
            <a:r>
              <a:rPr sz="106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</a:t>
            </a:r>
            <a:r>
              <a:rPr sz="106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track </a:t>
            </a:r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조합으로</a:t>
            </a:r>
            <a:r>
              <a:rPr sz="106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
5번 </a:t>
            </a:r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</a:t>
            </a:r>
            <a:r>
              <a:rPr sz="106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endParaRPr sz="1060" b="0" dirty="0">
              <a:solidFill>
                <a:srgbClr val="606D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CEF1741-4D90-4003-800F-9C96F7CD760B}"/>
              </a:ext>
            </a:extLst>
          </p:cNvPr>
          <p:cNvSpPr txBox="1"/>
          <p:nvPr/>
        </p:nvSpPr>
        <p:spPr>
          <a:xfrm>
            <a:off x="4457074" y="3705228"/>
            <a:ext cx="201168" cy="1569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F1</a:t>
            </a:r>
          </a:p>
        </p:txBody>
      </p:sp>
      <p:sp>
        <p:nvSpPr>
          <p:cNvPr id="49" name="Rectangle 46">
            <a:extLst>
              <a:ext uri="{FF2B5EF4-FFF2-40B4-BE49-F238E27FC236}">
                <a16:creationId xmlns:a16="http://schemas.microsoft.com/office/drawing/2014/main" id="{7193E8CC-95D6-4303-8E1E-8A3937B3CB5F}"/>
              </a:ext>
            </a:extLst>
          </p:cNvPr>
          <p:cNvSpPr/>
          <p:nvPr/>
        </p:nvSpPr>
        <p:spPr>
          <a:xfrm>
            <a:off x="4530226" y="3710559"/>
            <a:ext cx="475488" cy="256031"/>
          </a:xfrm>
          <a:prstGeom prst="rect">
            <a:avLst/>
          </a:prstGeom>
          <a:solidFill>
            <a:srgbClr val="EFF5FF"/>
          </a:solidFill>
          <a:ln w="10160">
            <a:solidFill>
              <a:srgbClr val="1C5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3CB332-F8A1-4CF2-AC61-9AB29CE5A978}"/>
              </a:ext>
            </a:extLst>
          </p:cNvPr>
          <p:cNvSpPr txBox="1"/>
          <p:nvPr/>
        </p:nvSpPr>
        <p:spPr>
          <a:xfrm>
            <a:off x="4530226" y="370224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</a:t>
            </a:r>
          </a:p>
        </p:txBody>
      </p:sp>
      <p:sp>
        <p:nvSpPr>
          <p:cNvPr id="51" name="Rectangle 48">
            <a:extLst>
              <a:ext uri="{FF2B5EF4-FFF2-40B4-BE49-F238E27FC236}">
                <a16:creationId xmlns:a16="http://schemas.microsoft.com/office/drawing/2014/main" id="{AAD36C04-5A6E-493A-81C3-747269B7F7AD}"/>
              </a:ext>
            </a:extLst>
          </p:cNvPr>
          <p:cNvSpPr/>
          <p:nvPr/>
        </p:nvSpPr>
        <p:spPr>
          <a:xfrm>
            <a:off x="5115442" y="3710559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40E538-B2E7-4C76-837F-482501CB0AF2}"/>
              </a:ext>
            </a:extLst>
          </p:cNvPr>
          <p:cNvSpPr txBox="1"/>
          <p:nvPr/>
        </p:nvSpPr>
        <p:spPr>
          <a:xfrm>
            <a:off x="5115442" y="370224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53" name="Rectangle 50">
            <a:extLst>
              <a:ext uri="{FF2B5EF4-FFF2-40B4-BE49-F238E27FC236}">
                <a16:creationId xmlns:a16="http://schemas.microsoft.com/office/drawing/2014/main" id="{0D0EB469-9C7B-443C-876D-911B6F786847}"/>
              </a:ext>
            </a:extLst>
          </p:cNvPr>
          <p:cNvSpPr/>
          <p:nvPr/>
        </p:nvSpPr>
        <p:spPr>
          <a:xfrm>
            <a:off x="5700658" y="3710559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C1FBB9-570B-4F9A-A585-C302082883F7}"/>
              </a:ext>
            </a:extLst>
          </p:cNvPr>
          <p:cNvSpPr txBox="1"/>
          <p:nvPr/>
        </p:nvSpPr>
        <p:spPr>
          <a:xfrm>
            <a:off x="5700658" y="370224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55" name="Rectangle 52">
            <a:extLst>
              <a:ext uri="{FF2B5EF4-FFF2-40B4-BE49-F238E27FC236}">
                <a16:creationId xmlns:a16="http://schemas.microsoft.com/office/drawing/2014/main" id="{9D761C8E-EE6E-4EB2-A086-6D2FC18A21AE}"/>
              </a:ext>
            </a:extLst>
          </p:cNvPr>
          <p:cNvSpPr/>
          <p:nvPr/>
        </p:nvSpPr>
        <p:spPr>
          <a:xfrm>
            <a:off x="6285874" y="3710559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62CF63-899B-4E78-B367-597C554A70D5}"/>
              </a:ext>
            </a:extLst>
          </p:cNvPr>
          <p:cNvSpPr txBox="1"/>
          <p:nvPr/>
        </p:nvSpPr>
        <p:spPr>
          <a:xfrm>
            <a:off x="6285874" y="370224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57" name="Rectangle 54">
            <a:extLst>
              <a:ext uri="{FF2B5EF4-FFF2-40B4-BE49-F238E27FC236}">
                <a16:creationId xmlns:a16="http://schemas.microsoft.com/office/drawing/2014/main" id="{BC948C42-E208-4FEE-8BD7-EA4E435F8273}"/>
              </a:ext>
            </a:extLst>
          </p:cNvPr>
          <p:cNvSpPr/>
          <p:nvPr/>
        </p:nvSpPr>
        <p:spPr>
          <a:xfrm>
            <a:off x="6871090" y="3710559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636A926-81A9-446E-8C2F-731274162747}"/>
              </a:ext>
            </a:extLst>
          </p:cNvPr>
          <p:cNvSpPr txBox="1"/>
          <p:nvPr/>
        </p:nvSpPr>
        <p:spPr>
          <a:xfrm>
            <a:off x="6871090" y="370224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AF959D-0049-43F0-B7BA-5AA19D9CF630}"/>
              </a:ext>
            </a:extLst>
          </p:cNvPr>
          <p:cNvSpPr txBox="1"/>
          <p:nvPr/>
        </p:nvSpPr>
        <p:spPr>
          <a:xfrm>
            <a:off x="4457074" y="3979548"/>
            <a:ext cx="201168" cy="1569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F2</a:t>
            </a:r>
          </a:p>
        </p:txBody>
      </p:sp>
      <p:sp>
        <p:nvSpPr>
          <p:cNvPr id="60" name="Rectangle 57">
            <a:extLst>
              <a:ext uri="{FF2B5EF4-FFF2-40B4-BE49-F238E27FC236}">
                <a16:creationId xmlns:a16="http://schemas.microsoft.com/office/drawing/2014/main" id="{40B16B8B-794B-4228-BBFB-5DC32A0BCA6E}"/>
              </a:ext>
            </a:extLst>
          </p:cNvPr>
          <p:cNvSpPr/>
          <p:nvPr/>
        </p:nvSpPr>
        <p:spPr>
          <a:xfrm>
            <a:off x="4530226" y="3984879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5B0D5CB-7435-4A3C-8545-46717BB7F3F3}"/>
              </a:ext>
            </a:extLst>
          </p:cNvPr>
          <p:cNvSpPr txBox="1"/>
          <p:nvPr/>
        </p:nvSpPr>
        <p:spPr>
          <a:xfrm>
            <a:off x="4530226" y="397656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62" name="Rectangle 59">
            <a:extLst>
              <a:ext uri="{FF2B5EF4-FFF2-40B4-BE49-F238E27FC236}">
                <a16:creationId xmlns:a16="http://schemas.microsoft.com/office/drawing/2014/main" id="{E4B267EF-B01C-40F2-AE63-623582607794}"/>
              </a:ext>
            </a:extLst>
          </p:cNvPr>
          <p:cNvSpPr/>
          <p:nvPr/>
        </p:nvSpPr>
        <p:spPr>
          <a:xfrm>
            <a:off x="5115442" y="3984879"/>
            <a:ext cx="475488" cy="256031"/>
          </a:xfrm>
          <a:prstGeom prst="rect">
            <a:avLst/>
          </a:prstGeom>
          <a:solidFill>
            <a:srgbClr val="EFF5FF"/>
          </a:solidFill>
          <a:ln w="10160">
            <a:solidFill>
              <a:srgbClr val="1C5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AFC7591-2382-4822-8ED9-956BEAA15C10}"/>
              </a:ext>
            </a:extLst>
          </p:cNvPr>
          <p:cNvSpPr txBox="1"/>
          <p:nvPr/>
        </p:nvSpPr>
        <p:spPr>
          <a:xfrm>
            <a:off x="5115442" y="397656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</a:t>
            </a:r>
          </a:p>
        </p:txBody>
      </p:sp>
      <p:sp>
        <p:nvSpPr>
          <p:cNvPr id="64" name="Rectangle 61">
            <a:extLst>
              <a:ext uri="{FF2B5EF4-FFF2-40B4-BE49-F238E27FC236}">
                <a16:creationId xmlns:a16="http://schemas.microsoft.com/office/drawing/2014/main" id="{EAEDE2FF-52AC-42EC-979D-CC0A15D11A7A}"/>
              </a:ext>
            </a:extLst>
          </p:cNvPr>
          <p:cNvSpPr/>
          <p:nvPr/>
        </p:nvSpPr>
        <p:spPr>
          <a:xfrm>
            <a:off x="5700658" y="3984879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379D195-E533-4F01-B8C6-73E695010912}"/>
              </a:ext>
            </a:extLst>
          </p:cNvPr>
          <p:cNvSpPr txBox="1"/>
          <p:nvPr/>
        </p:nvSpPr>
        <p:spPr>
          <a:xfrm>
            <a:off x="5700658" y="397656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66" name="Rectangle 63">
            <a:extLst>
              <a:ext uri="{FF2B5EF4-FFF2-40B4-BE49-F238E27FC236}">
                <a16:creationId xmlns:a16="http://schemas.microsoft.com/office/drawing/2014/main" id="{2877C83E-32DA-4E66-8B55-7D2729FF1BB9}"/>
              </a:ext>
            </a:extLst>
          </p:cNvPr>
          <p:cNvSpPr/>
          <p:nvPr/>
        </p:nvSpPr>
        <p:spPr>
          <a:xfrm>
            <a:off x="6285874" y="3984879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C181B0-6B90-4B80-AF14-8FEED97F9342}"/>
              </a:ext>
            </a:extLst>
          </p:cNvPr>
          <p:cNvSpPr txBox="1"/>
          <p:nvPr/>
        </p:nvSpPr>
        <p:spPr>
          <a:xfrm>
            <a:off x="6285874" y="397656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68" name="Rectangle 65">
            <a:extLst>
              <a:ext uri="{FF2B5EF4-FFF2-40B4-BE49-F238E27FC236}">
                <a16:creationId xmlns:a16="http://schemas.microsoft.com/office/drawing/2014/main" id="{9E1B613B-1D8B-4D5A-9D8E-00DEBEC895FE}"/>
              </a:ext>
            </a:extLst>
          </p:cNvPr>
          <p:cNvSpPr/>
          <p:nvPr/>
        </p:nvSpPr>
        <p:spPr>
          <a:xfrm>
            <a:off x="6871090" y="3984879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B39855-14EF-4231-98FC-DADA453DCAE1}"/>
              </a:ext>
            </a:extLst>
          </p:cNvPr>
          <p:cNvSpPr txBox="1"/>
          <p:nvPr/>
        </p:nvSpPr>
        <p:spPr>
          <a:xfrm>
            <a:off x="6871090" y="397656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5B2D0CF-D92A-42E6-AAE1-013AB15AAC71}"/>
              </a:ext>
            </a:extLst>
          </p:cNvPr>
          <p:cNvSpPr txBox="1"/>
          <p:nvPr/>
        </p:nvSpPr>
        <p:spPr>
          <a:xfrm>
            <a:off x="4457074" y="4253868"/>
            <a:ext cx="201168" cy="1569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F3</a:t>
            </a:r>
          </a:p>
        </p:txBody>
      </p:sp>
      <p:sp>
        <p:nvSpPr>
          <p:cNvPr id="71" name="Rectangle 68">
            <a:extLst>
              <a:ext uri="{FF2B5EF4-FFF2-40B4-BE49-F238E27FC236}">
                <a16:creationId xmlns:a16="http://schemas.microsoft.com/office/drawing/2014/main" id="{C98DD966-5E32-47A6-94DD-7D6319686883}"/>
              </a:ext>
            </a:extLst>
          </p:cNvPr>
          <p:cNvSpPr/>
          <p:nvPr/>
        </p:nvSpPr>
        <p:spPr>
          <a:xfrm>
            <a:off x="4530226" y="4259199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3FE3613-A341-4ED2-ACF3-7459A3DC8BB6}"/>
              </a:ext>
            </a:extLst>
          </p:cNvPr>
          <p:cNvSpPr txBox="1"/>
          <p:nvPr/>
        </p:nvSpPr>
        <p:spPr>
          <a:xfrm>
            <a:off x="4530226" y="425088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73" name="Rectangle 70">
            <a:extLst>
              <a:ext uri="{FF2B5EF4-FFF2-40B4-BE49-F238E27FC236}">
                <a16:creationId xmlns:a16="http://schemas.microsoft.com/office/drawing/2014/main" id="{4B11B26F-E07F-4C2F-8E05-85D3335962CD}"/>
              </a:ext>
            </a:extLst>
          </p:cNvPr>
          <p:cNvSpPr/>
          <p:nvPr/>
        </p:nvSpPr>
        <p:spPr>
          <a:xfrm>
            <a:off x="5115442" y="4259199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6C7E119-1962-47BF-8D59-96AC93BA62C9}"/>
              </a:ext>
            </a:extLst>
          </p:cNvPr>
          <p:cNvSpPr txBox="1"/>
          <p:nvPr/>
        </p:nvSpPr>
        <p:spPr>
          <a:xfrm>
            <a:off x="5115442" y="425088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75" name="Rectangle 72">
            <a:extLst>
              <a:ext uri="{FF2B5EF4-FFF2-40B4-BE49-F238E27FC236}">
                <a16:creationId xmlns:a16="http://schemas.microsoft.com/office/drawing/2014/main" id="{C631F871-DC66-457F-BEF8-F0BE21A7759F}"/>
              </a:ext>
            </a:extLst>
          </p:cNvPr>
          <p:cNvSpPr/>
          <p:nvPr/>
        </p:nvSpPr>
        <p:spPr>
          <a:xfrm>
            <a:off x="5700658" y="4259199"/>
            <a:ext cx="475488" cy="256031"/>
          </a:xfrm>
          <a:prstGeom prst="rect">
            <a:avLst/>
          </a:prstGeom>
          <a:solidFill>
            <a:srgbClr val="EFF5FF"/>
          </a:solidFill>
          <a:ln w="10160">
            <a:solidFill>
              <a:srgbClr val="1C5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74846C2-8225-4442-AE44-07CAF1AA9D1E}"/>
              </a:ext>
            </a:extLst>
          </p:cNvPr>
          <p:cNvSpPr txBox="1"/>
          <p:nvPr/>
        </p:nvSpPr>
        <p:spPr>
          <a:xfrm>
            <a:off x="5700658" y="425088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</a:t>
            </a:r>
          </a:p>
        </p:txBody>
      </p:sp>
      <p:sp>
        <p:nvSpPr>
          <p:cNvPr id="77" name="Rectangle 74">
            <a:extLst>
              <a:ext uri="{FF2B5EF4-FFF2-40B4-BE49-F238E27FC236}">
                <a16:creationId xmlns:a16="http://schemas.microsoft.com/office/drawing/2014/main" id="{B3BE5072-DD4C-4E8C-B05B-F9EB8F908EC0}"/>
              </a:ext>
            </a:extLst>
          </p:cNvPr>
          <p:cNvSpPr/>
          <p:nvPr/>
        </p:nvSpPr>
        <p:spPr>
          <a:xfrm>
            <a:off x="6285874" y="4259199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1341EC2-FB03-4257-8774-AC8CD9FCE717}"/>
              </a:ext>
            </a:extLst>
          </p:cNvPr>
          <p:cNvSpPr txBox="1"/>
          <p:nvPr/>
        </p:nvSpPr>
        <p:spPr>
          <a:xfrm>
            <a:off x="6285874" y="425088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79" name="Rectangle 76">
            <a:extLst>
              <a:ext uri="{FF2B5EF4-FFF2-40B4-BE49-F238E27FC236}">
                <a16:creationId xmlns:a16="http://schemas.microsoft.com/office/drawing/2014/main" id="{B9532EBF-E45B-4746-B536-A3E119053AD0}"/>
              </a:ext>
            </a:extLst>
          </p:cNvPr>
          <p:cNvSpPr/>
          <p:nvPr/>
        </p:nvSpPr>
        <p:spPr>
          <a:xfrm>
            <a:off x="6871090" y="4259199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C34B180-D19F-473E-93F8-1D191A69BAB6}"/>
              </a:ext>
            </a:extLst>
          </p:cNvPr>
          <p:cNvSpPr txBox="1"/>
          <p:nvPr/>
        </p:nvSpPr>
        <p:spPr>
          <a:xfrm>
            <a:off x="6871090" y="425088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E938F89-18C6-4857-A96D-CE2783C35AA1}"/>
              </a:ext>
            </a:extLst>
          </p:cNvPr>
          <p:cNvSpPr txBox="1"/>
          <p:nvPr/>
        </p:nvSpPr>
        <p:spPr>
          <a:xfrm>
            <a:off x="4457074" y="4528188"/>
            <a:ext cx="201168" cy="1569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F4</a:t>
            </a:r>
          </a:p>
        </p:txBody>
      </p:sp>
      <p:sp>
        <p:nvSpPr>
          <p:cNvPr id="82" name="Rectangle 79">
            <a:extLst>
              <a:ext uri="{FF2B5EF4-FFF2-40B4-BE49-F238E27FC236}">
                <a16:creationId xmlns:a16="http://schemas.microsoft.com/office/drawing/2014/main" id="{B87A79A9-940D-4D58-9EA1-86A8DB8A3181}"/>
              </a:ext>
            </a:extLst>
          </p:cNvPr>
          <p:cNvSpPr/>
          <p:nvPr/>
        </p:nvSpPr>
        <p:spPr>
          <a:xfrm>
            <a:off x="4530226" y="4533520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F12AFC8-AECB-458D-AFBF-8BD26450A221}"/>
              </a:ext>
            </a:extLst>
          </p:cNvPr>
          <p:cNvSpPr txBox="1"/>
          <p:nvPr/>
        </p:nvSpPr>
        <p:spPr>
          <a:xfrm>
            <a:off x="4530226" y="452520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84" name="Rectangle 81">
            <a:extLst>
              <a:ext uri="{FF2B5EF4-FFF2-40B4-BE49-F238E27FC236}">
                <a16:creationId xmlns:a16="http://schemas.microsoft.com/office/drawing/2014/main" id="{74A6FA6A-61C6-4806-AEC5-27B845247A01}"/>
              </a:ext>
            </a:extLst>
          </p:cNvPr>
          <p:cNvSpPr/>
          <p:nvPr/>
        </p:nvSpPr>
        <p:spPr>
          <a:xfrm>
            <a:off x="5115442" y="4533520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3205276-BB37-4AEF-AC64-AFC1B34EFB47}"/>
              </a:ext>
            </a:extLst>
          </p:cNvPr>
          <p:cNvSpPr txBox="1"/>
          <p:nvPr/>
        </p:nvSpPr>
        <p:spPr>
          <a:xfrm>
            <a:off x="5115442" y="452520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86" name="Rectangle 83">
            <a:extLst>
              <a:ext uri="{FF2B5EF4-FFF2-40B4-BE49-F238E27FC236}">
                <a16:creationId xmlns:a16="http://schemas.microsoft.com/office/drawing/2014/main" id="{91CB3119-9F88-4CEC-A63C-33EA3256C31F}"/>
              </a:ext>
            </a:extLst>
          </p:cNvPr>
          <p:cNvSpPr/>
          <p:nvPr/>
        </p:nvSpPr>
        <p:spPr>
          <a:xfrm>
            <a:off x="5700658" y="4533520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3B6301B-2EB1-4F64-9C74-1ADD0FDF4BE1}"/>
              </a:ext>
            </a:extLst>
          </p:cNvPr>
          <p:cNvSpPr txBox="1"/>
          <p:nvPr/>
        </p:nvSpPr>
        <p:spPr>
          <a:xfrm>
            <a:off x="5700658" y="452520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88" name="Rectangle 85">
            <a:extLst>
              <a:ext uri="{FF2B5EF4-FFF2-40B4-BE49-F238E27FC236}">
                <a16:creationId xmlns:a16="http://schemas.microsoft.com/office/drawing/2014/main" id="{A5070E0F-C5BF-41A7-8614-3ED46A701D4F}"/>
              </a:ext>
            </a:extLst>
          </p:cNvPr>
          <p:cNvSpPr/>
          <p:nvPr/>
        </p:nvSpPr>
        <p:spPr>
          <a:xfrm>
            <a:off x="6285874" y="4533520"/>
            <a:ext cx="475488" cy="256031"/>
          </a:xfrm>
          <a:prstGeom prst="rect">
            <a:avLst/>
          </a:prstGeom>
          <a:solidFill>
            <a:srgbClr val="EFF5FF"/>
          </a:solidFill>
          <a:ln w="10160">
            <a:solidFill>
              <a:srgbClr val="1C5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9B8FDBA-7272-47F7-ABD3-AC9934B37B26}"/>
              </a:ext>
            </a:extLst>
          </p:cNvPr>
          <p:cNvSpPr txBox="1"/>
          <p:nvPr/>
        </p:nvSpPr>
        <p:spPr>
          <a:xfrm>
            <a:off x="6285874" y="452520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</a:t>
            </a:r>
          </a:p>
        </p:txBody>
      </p:sp>
      <p:sp>
        <p:nvSpPr>
          <p:cNvPr id="90" name="Rectangle 87">
            <a:extLst>
              <a:ext uri="{FF2B5EF4-FFF2-40B4-BE49-F238E27FC236}">
                <a16:creationId xmlns:a16="http://schemas.microsoft.com/office/drawing/2014/main" id="{75912202-3178-440E-824F-070C05B17001}"/>
              </a:ext>
            </a:extLst>
          </p:cNvPr>
          <p:cNvSpPr/>
          <p:nvPr/>
        </p:nvSpPr>
        <p:spPr>
          <a:xfrm>
            <a:off x="6871090" y="4533520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D598DB7-9253-4482-81F8-25868756634F}"/>
              </a:ext>
            </a:extLst>
          </p:cNvPr>
          <p:cNvSpPr txBox="1"/>
          <p:nvPr/>
        </p:nvSpPr>
        <p:spPr>
          <a:xfrm>
            <a:off x="6871090" y="452520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3ECA37C-96BD-4A2B-9BEE-EC6FB0FCDC71}"/>
              </a:ext>
            </a:extLst>
          </p:cNvPr>
          <p:cNvSpPr txBox="1"/>
          <p:nvPr/>
        </p:nvSpPr>
        <p:spPr>
          <a:xfrm>
            <a:off x="4457074" y="4802508"/>
            <a:ext cx="201168" cy="1569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F5</a:t>
            </a:r>
          </a:p>
        </p:txBody>
      </p:sp>
      <p:sp>
        <p:nvSpPr>
          <p:cNvPr id="93" name="Rectangle 90">
            <a:extLst>
              <a:ext uri="{FF2B5EF4-FFF2-40B4-BE49-F238E27FC236}">
                <a16:creationId xmlns:a16="http://schemas.microsoft.com/office/drawing/2014/main" id="{84D36371-B8D1-44D4-A527-E1FF8D4399BF}"/>
              </a:ext>
            </a:extLst>
          </p:cNvPr>
          <p:cNvSpPr/>
          <p:nvPr/>
        </p:nvSpPr>
        <p:spPr>
          <a:xfrm>
            <a:off x="4530226" y="4807840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730D24C-D7F2-4BE3-8179-652AE0E45419}"/>
              </a:ext>
            </a:extLst>
          </p:cNvPr>
          <p:cNvSpPr txBox="1"/>
          <p:nvPr/>
        </p:nvSpPr>
        <p:spPr>
          <a:xfrm>
            <a:off x="4530226" y="479952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95" name="Rectangle 92">
            <a:extLst>
              <a:ext uri="{FF2B5EF4-FFF2-40B4-BE49-F238E27FC236}">
                <a16:creationId xmlns:a16="http://schemas.microsoft.com/office/drawing/2014/main" id="{40D82FBB-565C-4BB1-A554-41101E1ECA96}"/>
              </a:ext>
            </a:extLst>
          </p:cNvPr>
          <p:cNvSpPr/>
          <p:nvPr/>
        </p:nvSpPr>
        <p:spPr>
          <a:xfrm>
            <a:off x="5115442" y="4807840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DCD571B-43FA-4737-A0E3-0F21460A5B26}"/>
              </a:ext>
            </a:extLst>
          </p:cNvPr>
          <p:cNvSpPr txBox="1"/>
          <p:nvPr/>
        </p:nvSpPr>
        <p:spPr>
          <a:xfrm>
            <a:off x="5115442" y="479952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97" name="Rectangle 94">
            <a:extLst>
              <a:ext uri="{FF2B5EF4-FFF2-40B4-BE49-F238E27FC236}">
                <a16:creationId xmlns:a16="http://schemas.microsoft.com/office/drawing/2014/main" id="{296B3DB1-7F43-4F7C-8027-68CA76539E01}"/>
              </a:ext>
            </a:extLst>
          </p:cNvPr>
          <p:cNvSpPr/>
          <p:nvPr/>
        </p:nvSpPr>
        <p:spPr>
          <a:xfrm>
            <a:off x="5700658" y="4807840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D0B8478-BC3D-4FDE-B61D-1A029405CA7A}"/>
              </a:ext>
            </a:extLst>
          </p:cNvPr>
          <p:cNvSpPr txBox="1"/>
          <p:nvPr/>
        </p:nvSpPr>
        <p:spPr>
          <a:xfrm>
            <a:off x="5700658" y="479952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99" name="Rectangle 96">
            <a:extLst>
              <a:ext uri="{FF2B5EF4-FFF2-40B4-BE49-F238E27FC236}">
                <a16:creationId xmlns:a16="http://schemas.microsoft.com/office/drawing/2014/main" id="{E9D73AB5-CB56-4C7C-B92F-CF827D04A0F8}"/>
              </a:ext>
            </a:extLst>
          </p:cNvPr>
          <p:cNvSpPr/>
          <p:nvPr/>
        </p:nvSpPr>
        <p:spPr>
          <a:xfrm>
            <a:off x="6285874" y="4807840"/>
            <a:ext cx="475488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EF59544-815D-47B4-9A85-71690ED9EF0F}"/>
              </a:ext>
            </a:extLst>
          </p:cNvPr>
          <p:cNvSpPr txBox="1"/>
          <p:nvPr/>
        </p:nvSpPr>
        <p:spPr>
          <a:xfrm>
            <a:off x="6285874" y="479952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</a:t>
            </a:r>
          </a:p>
        </p:txBody>
      </p:sp>
      <p:sp>
        <p:nvSpPr>
          <p:cNvPr id="101" name="Rectangle 98">
            <a:extLst>
              <a:ext uri="{FF2B5EF4-FFF2-40B4-BE49-F238E27FC236}">
                <a16:creationId xmlns:a16="http://schemas.microsoft.com/office/drawing/2014/main" id="{66CA5896-9139-4491-97CC-E683C735FBA1}"/>
              </a:ext>
            </a:extLst>
          </p:cNvPr>
          <p:cNvSpPr/>
          <p:nvPr/>
        </p:nvSpPr>
        <p:spPr>
          <a:xfrm>
            <a:off x="6871090" y="4807840"/>
            <a:ext cx="475488" cy="256031"/>
          </a:xfrm>
          <a:prstGeom prst="rect">
            <a:avLst/>
          </a:prstGeom>
          <a:solidFill>
            <a:srgbClr val="EFF5FF"/>
          </a:solidFill>
          <a:ln w="10160">
            <a:solidFill>
              <a:srgbClr val="1C5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40043E5-1434-442A-8087-C3B14DF05559}"/>
              </a:ext>
            </a:extLst>
          </p:cNvPr>
          <p:cNvSpPr txBox="1"/>
          <p:nvPr/>
        </p:nvSpPr>
        <p:spPr>
          <a:xfrm>
            <a:off x="6871090" y="4799520"/>
            <a:ext cx="4754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5FEC595-D026-4546-8BFC-16E737474C13}"/>
              </a:ext>
            </a:extLst>
          </p:cNvPr>
          <p:cNvSpPr txBox="1"/>
          <p:nvPr/>
        </p:nvSpPr>
        <p:spPr>
          <a:xfrm>
            <a:off x="4325112" y="5740863"/>
            <a:ext cx="3236976" cy="35060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track은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한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번씩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validation으로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사용되어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
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모든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track을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독립적으로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평가할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있다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D2B57D9-0A81-487F-910E-52981F88B2E3}"/>
              </a:ext>
            </a:extLst>
          </p:cNvPr>
          <p:cNvSpPr txBox="1"/>
          <p:nvPr/>
        </p:nvSpPr>
        <p:spPr>
          <a:xfrm>
            <a:off x="8266175" y="2641491"/>
            <a:ext cx="310896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9968AE6-87CF-407B-8F29-09301F0252AE}"/>
              </a:ext>
            </a:extLst>
          </p:cNvPr>
          <p:cNvSpPr txBox="1"/>
          <p:nvPr/>
        </p:nvSpPr>
        <p:spPr>
          <a:xfrm>
            <a:off x="8638458" y="2592038"/>
            <a:ext cx="2907791" cy="22467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2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Fold Ensemble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94F398A-C349-4400-AD03-7844446BAEA6}"/>
              </a:ext>
            </a:extLst>
          </p:cNvPr>
          <p:cNvSpPr txBox="1"/>
          <p:nvPr/>
        </p:nvSpPr>
        <p:spPr>
          <a:xfrm>
            <a:off x="8328542" y="3086112"/>
            <a:ext cx="3236976" cy="363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6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5개 fold </a:t>
            </a:r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모델의</a:t>
            </a:r>
            <a:r>
              <a:rPr sz="106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예측을</a:t>
            </a:r>
            <a:r>
              <a:rPr sz="106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평균해</a:t>
            </a:r>
            <a:r>
              <a:rPr sz="106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
더 </a:t>
            </a:r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안정적인</a:t>
            </a:r>
            <a:r>
              <a:rPr sz="106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</a:t>
            </a:r>
            <a:r>
              <a:rPr sz="106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</a:t>
            </a:r>
            <a:r>
              <a:rPr sz="106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6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  <a:endParaRPr sz="1060" b="0" dirty="0">
              <a:solidFill>
                <a:srgbClr val="606D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Rounded Rectangle 105">
            <a:extLst>
              <a:ext uri="{FF2B5EF4-FFF2-40B4-BE49-F238E27FC236}">
                <a16:creationId xmlns:a16="http://schemas.microsoft.com/office/drawing/2014/main" id="{F4358D3D-6174-4E1F-9788-82FD2B580DEF}"/>
              </a:ext>
            </a:extLst>
          </p:cNvPr>
          <p:cNvSpPr/>
          <p:nvPr/>
        </p:nvSpPr>
        <p:spPr>
          <a:xfrm>
            <a:off x="8730704" y="4009956"/>
            <a:ext cx="411480" cy="3108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C5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3B14D01-5770-4DA2-A9B6-E974354DD38C}"/>
              </a:ext>
            </a:extLst>
          </p:cNvPr>
          <p:cNvSpPr txBox="1"/>
          <p:nvPr/>
        </p:nvSpPr>
        <p:spPr>
          <a:xfrm>
            <a:off x="8730704" y="4037387"/>
            <a:ext cx="41148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1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Fold 1</a:t>
            </a:r>
          </a:p>
        </p:txBody>
      </p:sp>
      <p:sp>
        <p:nvSpPr>
          <p:cNvPr id="110" name="Rounded Rectangle 107">
            <a:extLst>
              <a:ext uri="{FF2B5EF4-FFF2-40B4-BE49-F238E27FC236}">
                <a16:creationId xmlns:a16="http://schemas.microsoft.com/office/drawing/2014/main" id="{7D1D8A08-A03B-41E9-89E4-379979A8F64C}"/>
              </a:ext>
            </a:extLst>
          </p:cNvPr>
          <p:cNvSpPr/>
          <p:nvPr/>
        </p:nvSpPr>
        <p:spPr>
          <a:xfrm>
            <a:off x="9261056" y="4009956"/>
            <a:ext cx="411480" cy="3108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C5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793CE9A-C774-4969-932D-A85B4B6AA5E3}"/>
              </a:ext>
            </a:extLst>
          </p:cNvPr>
          <p:cNvSpPr txBox="1"/>
          <p:nvPr/>
        </p:nvSpPr>
        <p:spPr>
          <a:xfrm>
            <a:off x="9261056" y="4037387"/>
            <a:ext cx="41148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1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Fold 2</a:t>
            </a:r>
          </a:p>
        </p:txBody>
      </p:sp>
      <p:sp>
        <p:nvSpPr>
          <p:cNvPr id="112" name="Rounded Rectangle 109">
            <a:extLst>
              <a:ext uri="{FF2B5EF4-FFF2-40B4-BE49-F238E27FC236}">
                <a16:creationId xmlns:a16="http://schemas.microsoft.com/office/drawing/2014/main" id="{7B7D1527-DD4F-45A7-A687-4CD1132B7D98}"/>
              </a:ext>
            </a:extLst>
          </p:cNvPr>
          <p:cNvSpPr/>
          <p:nvPr/>
        </p:nvSpPr>
        <p:spPr>
          <a:xfrm>
            <a:off x="9791408" y="4009956"/>
            <a:ext cx="411480" cy="3108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C5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5771BAD-FD6C-4ED8-83F1-690F81D51435}"/>
              </a:ext>
            </a:extLst>
          </p:cNvPr>
          <p:cNvSpPr txBox="1"/>
          <p:nvPr/>
        </p:nvSpPr>
        <p:spPr>
          <a:xfrm>
            <a:off x="9791408" y="4037387"/>
            <a:ext cx="41148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1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Fold 3</a:t>
            </a:r>
          </a:p>
        </p:txBody>
      </p:sp>
      <p:sp>
        <p:nvSpPr>
          <p:cNvPr id="114" name="Rounded Rectangle 111">
            <a:extLst>
              <a:ext uri="{FF2B5EF4-FFF2-40B4-BE49-F238E27FC236}">
                <a16:creationId xmlns:a16="http://schemas.microsoft.com/office/drawing/2014/main" id="{6D82497F-DAF1-40DD-9349-C9DFA42B5F43}"/>
              </a:ext>
            </a:extLst>
          </p:cNvPr>
          <p:cNvSpPr/>
          <p:nvPr/>
        </p:nvSpPr>
        <p:spPr>
          <a:xfrm>
            <a:off x="10321761" y="4009956"/>
            <a:ext cx="411480" cy="3108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C5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8D29711-66F2-4DCF-BE12-DD9F448DB14F}"/>
              </a:ext>
            </a:extLst>
          </p:cNvPr>
          <p:cNvSpPr txBox="1"/>
          <p:nvPr/>
        </p:nvSpPr>
        <p:spPr>
          <a:xfrm>
            <a:off x="10321761" y="4037387"/>
            <a:ext cx="41148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1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Fold 4</a:t>
            </a:r>
          </a:p>
        </p:txBody>
      </p:sp>
      <p:sp>
        <p:nvSpPr>
          <p:cNvPr id="116" name="Rounded Rectangle 113">
            <a:extLst>
              <a:ext uri="{FF2B5EF4-FFF2-40B4-BE49-F238E27FC236}">
                <a16:creationId xmlns:a16="http://schemas.microsoft.com/office/drawing/2014/main" id="{5E7B2620-1B54-40D0-80A1-3E66AB53587D}"/>
              </a:ext>
            </a:extLst>
          </p:cNvPr>
          <p:cNvSpPr/>
          <p:nvPr/>
        </p:nvSpPr>
        <p:spPr>
          <a:xfrm>
            <a:off x="10852113" y="4009956"/>
            <a:ext cx="411480" cy="3108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C5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6BF38A9-B44F-468B-B6F5-95821EC2DF16}"/>
              </a:ext>
            </a:extLst>
          </p:cNvPr>
          <p:cNvSpPr txBox="1"/>
          <p:nvPr/>
        </p:nvSpPr>
        <p:spPr>
          <a:xfrm>
            <a:off x="10852113" y="4037387"/>
            <a:ext cx="41148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1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Fold 5</a:t>
            </a:r>
          </a:p>
        </p:txBody>
      </p:sp>
      <p:cxnSp>
        <p:nvCxnSpPr>
          <p:cNvPr id="118" name="Connector 115">
            <a:extLst>
              <a:ext uri="{FF2B5EF4-FFF2-40B4-BE49-F238E27FC236}">
                <a16:creationId xmlns:a16="http://schemas.microsoft.com/office/drawing/2014/main" id="{D8171D70-3D3D-4AE8-BBBB-3724E3EF39FE}"/>
              </a:ext>
            </a:extLst>
          </p:cNvPr>
          <p:cNvCxnSpPr/>
          <p:nvPr/>
        </p:nvCxnSpPr>
        <p:spPr>
          <a:xfrm>
            <a:off x="8931873" y="4320852"/>
            <a:ext cx="1097279" cy="374904"/>
          </a:xfrm>
          <a:prstGeom prst="line">
            <a:avLst/>
          </a:prstGeom>
          <a:ln w="12700">
            <a:solidFill>
              <a:srgbClr val="1C5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6">
            <a:extLst>
              <a:ext uri="{FF2B5EF4-FFF2-40B4-BE49-F238E27FC236}">
                <a16:creationId xmlns:a16="http://schemas.microsoft.com/office/drawing/2014/main" id="{329D5A33-70AC-488A-9692-C988871123D6}"/>
              </a:ext>
            </a:extLst>
          </p:cNvPr>
          <p:cNvCxnSpPr/>
          <p:nvPr/>
        </p:nvCxnSpPr>
        <p:spPr>
          <a:xfrm>
            <a:off x="9462225" y="4320852"/>
            <a:ext cx="566927" cy="374904"/>
          </a:xfrm>
          <a:prstGeom prst="line">
            <a:avLst/>
          </a:prstGeom>
          <a:ln w="12700">
            <a:solidFill>
              <a:srgbClr val="1C5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7">
            <a:extLst>
              <a:ext uri="{FF2B5EF4-FFF2-40B4-BE49-F238E27FC236}">
                <a16:creationId xmlns:a16="http://schemas.microsoft.com/office/drawing/2014/main" id="{1EBE6791-0307-461D-8175-DB952C1F988D}"/>
              </a:ext>
            </a:extLst>
          </p:cNvPr>
          <p:cNvCxnSpPr/>
          <p:nvPr/>
        </p:nvCxnSpPr>
        <p:spPr>
          <a:xfrm>
            <a:off x="9992577" y="4320852"/>
            <a:ext cx="36575" cy="374904"/>
          </a:xfrm>
          <a:prstGeom prst="line">
            <a:avLst/>
          </a:prstGeom>
          <a:ln w="12700">
            <a:solidFill>
              <a:srgbClr val="1C5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18">
            <a:extLst>
              <a:ext uri="{FF2B5EF4-FFF2-40B4-BE49-F238E27FC236}">
                <a16:creationId xmlns:a16="http://schemas.microsoft.com/office/drawing/2014/main" id="{F465C3E0-B6D4-4874-BA80-28FEB974A590}"/>
              </a:ext>
            </a:extLst>
          </p:cNvPr>
          <p:cNvCxnSpPr/>
          <p:nvPr/>
        </p:nvCxnSpPr>
        <p:spPr>
          <a:xfrm flipH="1">
            <a:off x="10029152" y="4320852"/>
            <a:ext cx="493777" cy="374904"/>
          </a:xfrm>
          <a:prstGeom prst="line">
            <a:avLst/>
          </a:prstGeom>
          <a:ln w="12700">
            <a:solidFill>
              <a:srgbClr val="1C5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19">
            <a:extLst>
              <a:ext uri="{FF2B5EF4-FFF2-40B4-BE49-F238E27FC236}">
                <a16:creationId xmlns:a16="http://schemas.microsoft.com/office/drawing/2014/main" id="{68958867-38BF-4EC4-9C97-ABA7890CA19A}"/>
              </a:ext>
            </a:extLst>
          </p:cNvPr>
          <p:cNvCxnSpPr/>
          <p:nvPr/>
        </p:nvCxnSpPr>
        <p:spPr>
          <a:xfrm flipH="1">
            <a:off x="10029152" y="4320852"/>
            <a:ext cx="1024129" cy="374904"/>
          </a:xfrm>
          <a:prstGeom prst="line">
            <a:avLst/>
          </a:prstGeom>
          <a:ln w="12700">
            <a:solidFill>
              <a:srgbClr val="1C5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0">
            <a:extLst>
              <a:ext uri="{FF2B5EF4-FFF2-40B4-BE49-F238E27FC236}">
                <a16:creationId xmlns:a16="http://schemas.microsoft.com/office/drawing/2014/main" id="{6A139430-E55F-416A-B1CA-95304A270ECA}"/>
              </a:ext>
            </a:extLst>
          </p:cNvPr>
          <p:cNvSpPr/>
          <p:nvPr/>
        </p:nvSpPr>
        <p:spPr>
          <a:xfrm>
            <a:off x="9462225" y="4723187"/>
            <a:ext cx="1143000" cy="329184"/>
          </a:xfrm>
          <a:prstGeom prst="roundRect">
            <a:avLst/>
          </a:prstGeom>
          <a:solidFill>
            <a:srgbClr val="F0FBF5"/>
          </a:solidFill>
          <a:ln w="11430">
            <a:solidFill>
              <a:srgbClr val="ABE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DAEF214-B65E-417E-A616-A83322FF204C}"/>
              </a:ext>
            </a:extLst>
          </p:cNvPr>
          <p:cNvSpPr txBox="1"/>
          <p:nvPr/>
        </p:nvSpPr>
        <p:spPr>
          <a:xfrm>
            <a:off x="9462225" y="4761268"/>
            <a:ext cx="1143000" cy="16158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0" b="1">
                <a:solidFill>
                  <a:srgbClr val="1F8E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Probability Mean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C731AAF-6D58-48E7-84F7-E73890D073FA}"/>
              </a:ext>
            </a:extLst>
          </p:cNvPr>
          <p:cNvSpPr txBox="1"/>
          <p:nvPr/>
        </p:nvSpPr>
        <p:spPr>
          <a:xfrm>
            <a:off x="8321813" y="5725566"/>
            <a:ext cx="3236976" cy="35060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단일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split에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덜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의존하고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
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서로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track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조합의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정보를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함께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9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활용한다</a:t>
            </a:r>
            <a:r>
              <a:rPr sz="1019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cxnSp>
        <p:nvCxnSpPr>
          <p:cNvPr id="136" name="Connector 4">
            <a:extLst>
              <a:ext uri="{FF2B5EF4-FFF2-40B4-BE49-F238E27FC236}">
                <a16:creationId xmlns:a16="http://schemas.microsoft.com/office/drawing/2014/main" id="{B062E4CF-D9CF-4C19-8E40-32A6C3FC03BE}"/>
              </a:ext>
            </a:extLst>
          </p:cNvPr>
          <p:cNvCxnSpPr>
            <a:cxnSpLocks/>
          </p:cNvCxnSpPr>
          <p:nvPr/>
        </p:nvCxnSpPr>
        <p:spPr>
          <a:xfrm>
            <a:off x="475914" y="2202578"/>
            <a:ext cx="7378142" cy="0"/>
          </a:xfrm>
          <a:prstGeom prst="line">
            <a:avLst/>
          </a:prstGeom>
          <a:ln w="12700">
            <a:solidFill>
              <a:srgbClr val="DC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4">
            <a:extLst>
              <a:ext uri="{FF2B5EF4-FFF2-40B4-BE49-F238E27FC236}">
                <a16:creationId xmlns:a16="http://schemas.microsoft.com/office/drawing/2014/main" id="{C4C0BE4B-EC6F-4ED2-8FDC-AE317A5CEE52}"/>
              </a:ext>
            </a:extLst>
          </p:cNvPr>
          <p:cNvCxnSpPr>
            <a:cxnSpLocks/>
          </p:cNvCxnSpPr>
          <p:nvPr/>
        </p:nvCxnSpPr>
        <p:spPr>
          <a:xfrm>
            <a:off x="3969806" y="2279914"/>
            <a:ext cx="0" cy="4401291"/>
          </a:xfrm>
          <a:prstGeom prst="line">
            <a:avLst/>
          </a:prstGeom>
          <a:ln w="12700">
            <a:solidFill>
              <a:srgbClr val="DC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Shape 9">
            <a:extLst>
              <a:ext uri="{FF2B5EF4-FFF2-40B4-BE49-F238E27FC236}">
                <a16:creationId xmlns:a16="http://schemas.microsoft.com/office/drawing/2014/main" id="{C0CBFBAB-53A8-424D-B949-0D5B44B68AF8}"/>
              </a:ext>
            </a:extLst>
          </p:cNvPr>
          <p:cNvSpPr/>
          <p:nvPr/>
        </p:nvSpPr>
        <p:spPr>
          <a:xfrm>
            <a:off x="9284457" y="120522"/>
            <a:ext cx="2416639" cy="2057400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2700" dist="50800" dir="2700000" algn="bl" rotWithShape="0">
              <a:srgbClr val="C9D1DD">
                <a:alpha val="16000"/>
              </a:srgbClr>
            </a:outerShdw>
          </a:effectLst>
        </p:spPr>
      </p:sp>
      <p:sp>
        <p:nvSpPr>
          <p:cNvPr id="141" name="Text 10">
            <a:extLst>
              <a:ext uri="{FF2B5EF4-FFF2-40B4-BE49-F238E27FC236}">
                <a16:creationId xmlns:a16="http://schemas.microsoft.com/office/drawing/2014/main" id="{68AAE5C2-8658-45DB-A502-E313D5921B13}"/>
              </a:ext>
            </a:extLst>
          </p:cNvPr>
          <p:cNvSpPr/>
          <p:nvPr/>
        </p:nvSpPr>
        <p:spPr>
          <a:xfrm>
            <a:off x="9629110" y="2157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Test Macro-F1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2" name="Text 11">
            <a:extLst>
              <a:ext uri="{FF2B5EF4-FFF2-40B4-BE49-F238E27FC236}">
                <a16:creationId xmlns:a16="http://schemas.microsoft.com/office/drawing/2014/main" id="{981E1D23-9F9B-4C5A-9020-C239412F4576}"/>
              </a:ext>
            </a:extLst>
          </p:cNvPr>
          <p:cNvSpPr/>
          <p:nvPr/>
        </p:nvSpPr>
        <p:spPr>
          <a:xfrm>
            <a:off x="9629110" y="405934"/>
            <a:ext cx="1783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0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0.9964</a:t>
            </a:r>
            <a:endParaRPr 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" name="Text 13">
            <a:extLst>
              <a:ext uri="{FF2B5EF4-FFF2-40B4-BE49-F238E27FC236}">
                <a16:creationId xmlns:a16="http://schemas.microsoft.com/office/drawing/2014/main" id="{C2B07BFA-4AD0-4247-9455-0A3EAF5DAB15}"/>
              </a:ext>
            </a:extLst>
          </p:cNvPr>
          <p:cNvSpPr/>
          <p:nvPr/>
        </p:nvSpPr>
        <p:spPr>
          <a:xfrm>
            <a:off x="9629110" y="116309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2차 대비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" name="Text 14">
            <a:extLst>
              <a:ext uri="{FF2B5EF4-FFF2-40B4-BE49-F238E27FC236}">
                <a16:creationId xmlns:a16="http://schemas.microsoft.com/office/drawing/2014/main" id="{EB4D8809-1AAB-4830-9579-2068B8BEE7F1}"/>
              </a:ext>
            </a:extLst>
          </p:cNvPr>
          <p:cNvSpPr/>
          <p:nvPr/>
        </p:nvSpPr>
        <p:spPr>
          <a:xfrm>
            <a:off x="9629110" y="1353316"/>
            <a:ext cx="1783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554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" pitchFamily="34" charset="-120"/>
              </a:rPr>
              <a:t>+0.86%p</a:t>
            </a:r>
            <a:endParaRPr lang="en-US" sz="2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6" name="Connector 4">
            <a:extLst>
              <a:ext uri="{FF2B5EF4-FFF2-40B4-BE49-F238E27FC236}">
                <a16:creationId xmlns:a16="http://schemas.microsoft.com/office/drawing/2014/main" id="{0D9A464D-759F-4A17-8DBC-49B3FCDDA40B}"/>
              </a:ext>
            </a:extLst>
          </p:cNvPr>
          <p:cNvCxnSpPr>
            <a:cxnSpLocks/>
          </p:cNvCxnSpPr>
          <p:nvPr/>
        </p:nvCxnSpPr>
        <p:spPr>
          <a:xfrm>
            <a:off x="475914" y="1229572"/>
            <a:ext cx="7378142" cy="0"/>
          </a:xfrm>
          <a:prstGeom prst="line">
            <a:avLst/>
          </a:prstGeom>
          <a:ln w="12700">
            <a:solidFill>
              <a:srgbClr val="DC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4">
            <a:extLst>
              <a:ext uri="{FF2B5EF4-FFF2-40B4-BE49-F238E27FC236}">
                <a16:creationId xmlns:a16="http://schemas.microsoft.com/office/drawing/2014/main" id="{F17A4CAB-EBB5-4B25-94F6-428637CAD1E9}"/>
              </a:ext>
            </a:extLst>
          </p:cNvPr>
          <p:cNvCxnSpPr>
            <a:cxnSpLocks/>
          </p:cNvCxnSpPr>
          <p:nvPr/>
        </p:nvCxnSpPr>
        <p:spPr>
          <a:xfrm>
            <a:off x="7891531" y="2279914"/>
            <a:ext cx="0" cy="4401291"/>
          </a:xfrm>
          <a:prstGeom prst="line">
            <a:avLst/>
          </a:prstGeom>
          <a:ln w="12700">
            <a:solidFill>
              <a:srgbClr val="DC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ounded Rectangle 31">
            <a:extLst>
              <a:ext uri="{FF2B5EF4-FFF2-40B4-BE49-F238E27FC236}">
                <a16:creationId xmlns:a16="http://schemas.microsoft.com/office/drawing/2014/main" id="{8B5E8C16-4B2F-4FDF-9A13-B6ED596AD361}"/>
              </a:ext>
            </a:extLst>
          </p:cNvPr>
          <p:cNvSpPr/>
          <p:nvPr/>
        </p:nvSpPr>
        <p:spPr>
          <a:xfrm>
            <a:off x="2893953" y="4353739"/>
            <a:ext cx="453002" cy="19253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C5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6DE0252-CE24-45BF-93A7-43A2B494E1BD}"/>
              </a:ext>
            </a:extLst>
          </p:cNvPr>
          <p:cNvSpPr txBox="1"/>
          <p:nvPr/>
        </p:nvSpPr>
        <p:spPr>
          <a:xfrm>
            <a:off x="2893780" y="4370182"/>
            <a:ext cx="463325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700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r>
              <a:rPr sz="700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sz="700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~ B30</a:t>
            </a:r>
            <a:endParaRPr sz="700" b="1" dirty="0">
              <a:solidFill>
                <a:srgbClr val="1C5CD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3245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28">
            <a:extLst>
              <a:ext uri="{FF2B5EF4-FFF2-40B4-BE49-F238E27FC236}">
                <a16:creationId xmlns:a16="http://schemas.microsoft.com/office/drawing/2014/main" id="{66BEC01D-11B2-4E92-BCA9-AD6C14645DFB}"/>
              </a:ext>
            </a:extLst>
          </p:cNvPr>
          <p:cNvSpPr/>
          <p:nvPr/>
        </p:nvSpPr>
        <p:spPr>
          <a:xfrm>
            <a:off x="463347" y="2578608"/>
            <a:ext cx="3486861" cy="4077025"/>
          </a:xfrm>
          <a:prstGeom prst="roundRect">
            <a:avLst>
              <a:gd name="adj" fmla="val 9157"/>
            </a:avLst>
          </a:prstGeom>
          <a:solidFill>
            <a:srgbClr val="FFFFFF"/>
          </a:solidFill>
          <a:ln w="12700">
            <a:solidFill>
              <a:srgbClr val="1C5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FCA0CF-C0ED-4FC7-8D20-F97C54C65493}"/>
              </a:ext>
            </a:extLst>
          </p:cNvPr>
          <p:cNvSpPr txBox="1"/>
          <p:nvPr/>
        </p:nvSpPr>
        <p:spPr>
          <a:xfrm>
            <a:off x="347472" y="128016"/>
            <a:ext cx="804672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5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4차 접근 : Full-data Expansion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8BA45E-A997-4457-AA6A-08BC3EF3DB12}"/>
              </a:ext>
            </a:extLst>
          </p:cNvPr>
          <p:cNvSpPr txBox="1"/>
          <p:nvPr/>
        </p:nvSpPr>
        <p:spPr>
          <a:xfrm>
            <a:off x="365760" y="616962"/>
            <a:ext cx="10972800" cy="21082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3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Track-aware 5-Fold의 </a:t>
            </a:r>
            <a:r>
              <a:rPr sz="113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장점은</a:t>
            </a:r>
            <a:r>
              <a:rPr sz="113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3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유지하되</a:t>
            </a:r>
            <a:r>
              <a:rPr sz="113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각 </a:t>
            </a:r>
            <a:r>
              <a:rPr sz="113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fold가</a:t>
            </a:r>
            <a:r>
              <a:rPr sz="113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3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보지</a:t>
            </a:r>
            <a:r>
              <a:rPr sz="113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3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못한</a:t>
            </a:r>
            <a:r>
              <a:rPr sz="113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track </a:t>
            </a:r>
            <a:r>
              <a:rPr sz="113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다양성을</a:t>
            </a:r>
            <a:r>
              <a:rPr sz="113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full-data </a:t>
            </a:r>
            <a:r>
              <a:rPr sz="113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모델로</a:t>
            </a:r>
            <a:r>
              <a:rPr sz="113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3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보완할</a:t>
            </a:r>
            <a:r>
              <a:rPr sz="113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 </a:t>
            </a:r>
            <a:r>
              <a:rPr sz="113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있는지</a:t>
            </a:r>
            <a:r>
              <a:rPr sz="1130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30" b="0" dirty="0" err="1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  <a:endParaRPr sz="1130" b="0" dirty="0">
              <a:solidFill>
                <a:srgbClr val="606D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EF43E-D563-4377-8950-34E6892D4798}"/>
              </a:ext>
            </a:extLst>
          </p:cNvPr>
          <p:cNvSpPr txBox="1"/>
          <p:nvPr/>
        </p:nvSpPr>
        <p:spPr>
          <a:xfrm>
            <a:off x="438912" y="951024"/>
            <a:ext cx="1097280" cy="2277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40" b="1" dirty="0" err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가설</a:t>
            </a:r>
            <a:endParaRPr sz="1240" b="1" dirty="0">
              <a:solidFill>
                <a:srgbClr val="1C5CD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Connector 4">
            <a:extLst>
              <a:ext uri="{FF2B5EF4-FFF2-40B4-BE49-F238E27FC236}">
                <a16:creationId xmlns:a16="http://schemas.microsoft.com/office/drawing/2014/main" id="{1AF3E38C-3894-4D69-8FA3-B6E396F95261}"/>
              </a:ext>
            </a:extLst>
          </p:cNvPr>
          <p:cNvCxnSpPr>
            <a:cxnSpLocks/>
          </p:cNvCxnSpPr>
          <p:nvPr/>
        </p:nvCxnSpPr>
        <p:spPr>
          <a:xfrm>
            <a:off x="438912" y="1202061"/>
            <a:ext cx="8896511" cy="16039"/>
          </a:xfrm>
          <a:prstGeom prst="line">
            <a:avLst/>
          </a:prstGeom>
          <a:ln w="12700">
            <a:solidFill>
              <a:srgbClr val="DC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9E6A896-D3C2-4512-9D9D-D62BA4727182}"/>
              </a:ext>
            </a:extLst>
          </p:cNvPr>
          <p:cNvSpPr txBox="1"/>
          <p:nvPr/>
        </p:nvSpPr>
        <p:spPr>
          <a:xfrm>
            <a:off x="156270" y="1355418"/>
            <a:ext cx="8046720" cy="4401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1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sz="131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1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track을</a:t>
            </a:r>
            <a:r>
              <a:rPr sz="131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1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학습한</a:t>
            </a:r>
            <a:r>
              <a:rPr sz="131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full-data </a:t>
            </a:r>
            <a:r>
              <a:rPr sz="131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모델을</a:t>
            </a:r>
            <a:r>
              <a:rPr sz="131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1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추가하면</a:t>
            </a:r>
            <a:r>
              <a:rPr sz="131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endParaRPr lang="en-US" sz="1310" b="1" dirty="0">
              <a:solidFill>
                <a:srgbClr val="1F232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sz="131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fold </a:t>
            </a:r>
            <a:r>
              <a:rPr sz="131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학습에서</a:t>
            </a:r>
            <a:r>
              <a:rPr sz="131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1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제외된</a:t>
            </a:r>
            <a:r>
              <a:rPr lang="en-US" sz="131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1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데이터가 학습되어</a:t>
            </a:r>
            <a:r>
              <a:rPr sz="131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1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다양성을</a:t>
            </a:r>
            <a:r>
              <a:rPr sz="131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1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보완할</a:t>
            </a:r>
            <a:r>
              <a:rPr sz="131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 </a:t>
            </a:r>
            <a:r>
              <a:rPr sz="131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있을</a:t>
            </a:r>
            <a:r>
              <a:rPr sz="131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10" b="1" dirty="0" err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것이다</a:t>
            </a:r>
            <a:r>
              <a:rPr sz="1310" b="1" dirty="0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ADDEBC-D730-49D0-99FA-197AF26C1044}"/>
              </a:ext>
            </a:extLst>
          </p:cNvPr>
          <p:cNvSpPr txBox="1"/>
          <p:nvPr/>
        </p:nvSpPr>
        <p:spPr>
          <a:xfrm>
            <a:off x="438912" y="2162979"/>
            <a:ext cx="1828800" cy="2277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40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직전 버전과의 차이</a:t>
            </a:r>
          </a:p>
        </p:txBody>
      </p:sp>
      <p:cxnSp>
        <p:nvCxnSpPr>
          <p:cNvPr id="11" name="Connector 8">
            <a:extLst>
              <a:ext uri="{FF2B5EF4-FFF2-40B4-BE49-F238E27FC236}">
                <a16:creationId xmlns:a16="http://schemas.microsoft.com/office/drawing/2014/main" id="{4C1671F2-993C-43E7-9BE5-251669C95D09}"/>
              </a:ext>
            </a:extLst>
          </p:cNvPr>
          <p:cNvCxnSpPr>
            <a:cxnSpLocks/>
          </p:cNvCxnSpPr>
          <p:nvPr/>
        </p:nvCxnSpPr>
        <p:spPr>
          <a:xfrm>
            <a:off x="438912" y="2414016"/>
            <a:ext cx="3511296" cy="0"/>
          </a:xfrm>
          <a:prstGeom prst="line">
            <a:avLst/>
          </a:prstGeom>
          <a:ln w="12700">
            <a:solidFill>
              <a:srgbClr val="DC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F7B053E9-BA89-447F-876B-A7E3C260DFAA}"/>
              </a:ext>
            </a:extLst>
          </p:cNvPr>
          <p:cNvSpPr/>
          <p:nvPr/>
        </p:nvSpPr>
        <p:spPr>
          <a:xfrm>
            <a:off x="491613" y="2600229"/>
            <a:ext cx="3424182" cy="2151319"/>
          </a:xfrm>
          <a:prstGeom prst="roundRect">
            <a:avLst>
              <a:gd name="adj" fmla="val 12486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A43CD0-CC4E-4C6E-9296-8DE518DDED9D}"/>
              </a:ext>
            </a:extLst>
          </p:cNvPr>
          <p:cNvSpPr txBox="1"/>
          <p:nvPr/>
        </p:nvSpPr>
        <p:spPr>
          <a:xfrm>
            <a:off x="621792" y="2699486"/>
            <a:ext cx="1417320" cy="2154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60" b="1">
                <a:solidFill>
                  <a:srgbClr val="1F232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3차 버전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193D0D-447C-47B6-986B-1E81B56379B3}"/>
              </a:ext>
            </a:extLst>
          </p:cNvPr>
          <p:cNvSpPr txBox="1"/>
          <p:nvPr/>
        </p:nvSpPr>
        <p:spPr>
          <a:xfrm>
            <a:off x="1392936" y="2705792"/>
            <a:ext cx="2377440" cy="18607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69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Track-aware 5-Fold only</a:t>
            </a:r>
          </a:p>
        </p:txBody>
      </p:sp>
      <p:sp>
        <p:nvSpPr>
          <p:cNvPr id="15" name="Rounded Rectangle 12">
            <a:extLst>
              <a:ext uri="{FF2B5EF4-FFF2-40B4-BE49-F238E27FC236}">
                <a16:creationId xmlns:a16="http://schemas.microsoft.com/office/drawing/2014/main" id="{950DE7A3-A722-476F-BD08-50D2D68F2B6F}"/>
              </a:ext>
            </a:extLst>
          </p:cNvPr>
          <p:cNvSpPr/>
          <p:nvPr/>
        </p:nvSpPr>
        <p:spPr>
          <a:xfrm>
            <a:off x="897309" y="3261860"/>
            <a:ext cx="786384" cy="5120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C5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A045D4-80AD-49B7-AE86-D387963BA571}"/>
              </a:ext>
            </a:extLst>
          </p:cNvPr>
          <p:cNvSpPr txBox="1"/>
          <p:nvPr/>
        </p:nvSpPr>
        <p:spPr>
          <a:xfrm>
            <a:off x="897309" y="3317524"/>
            <a:ext cx="786384" cy="16299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Fold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79F9B9-B3A6-4021-826E-3E0BFFDE3AE0}"/>
              </a:ext>
            </a:extLst>
          </p:cNvPr>
          <p:cNvSpPr txBox="1"/>
          <p:nvPr/>
        </p:nvSpPr>
        <p:spPr>
          <a:xfrm>
            <a:off x="897309" y="3493593"/>
            <a:ext cx="786384" cy="14003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70" b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80% tracks</a:t>
            </a:r>
          </a:p>
        </p:txBody>
      </p:sp>
      <p:sp>
        <p:nvSpPr>
          <p:cNvPr id="18" name="Rounded Rectangle 15">
            <a:extLst>
              <a:ext uri="{FF2B5EF4-FFF2-40B4-BE49-F238E27FC236}">
                <a16:creationId xmlns:a16="http://schemas.microsoft.com/office/drawing/2014/main" id="{C78E78AF-C10B-475B-8375-AAE6720D2246}"/>
              </a:ext>
            </a:extLst>
          </p:cNvPr>
          <p:cNvSpPr/>
          <p:nvPr/>
        </p:nvSpPr>
        <p:spPr>
          <a:xfrm>
            <a:off x="1829997" y="3261860"/>
            <a:ext cx="786384" cy="5120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C5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8B5F26-7579-4B8B-95D1-BA536D0F5F71}"/>
              </a:ext>
            </a:extLst>
          </p:cNvPr>
          <p:cNvSpPr txBox="1"/>
          <p:nvPr/>
        </p:nvSpPr>
        <p:spPr>
          <a:xfrm>
            <a:off x="1829997" y="3317524"/>
            <a:ext cx="786384" cy="16299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Fold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1CC20C-5E64-4D6B-AFDC-022DE4D4B685}"/>
              </a:ext>
            </a:extLst>
          </p:cNvPr>
          <p:cNvSpPr txBox="1"/>
          <p:nvPr/>
        </p:nvSpPr>
        <p:spPr>
          <a:xfrm>
            <a:off x="1829997" y="3493593"/>
            <a:ext cx="786384" cy="14003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70" b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80% tracks</a:t>
            </a:r>
          </a:p>
        </p:txBody>
      </p:sp>
      <p:sp>
        <p:nvSpPr>
          <p:cNvPr id="21" name="Rounded Rectangle 18">
            <a:extLst>
              <a:ext uri="{FF2B5EF4-FFF2-40B4-BE49-F238E27FC236}">
                <a16:creationId xmlns:a16="http://schemas.microsoft.com/office/drawing/2014/main" id="{D37C1A4B-C8E1-4E6E-927C-CE0FD3C25D91}"/>
              </a:ext>
            </a:extLst>
          </p:cNvPr>
          <p:cNvSpPr/>
          <p:nvPr/>
        </p:nvSpPr>
        <p:spPr>
          <a:xfrm>
            <a:off x="2762685" y="3261860"/>
            <a:ext cx="786384" cy="5120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C5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773233-2BCC-4750-9C52-78210DCA7C02}"/>
              </a:ext>
            </a:extLst>
          </p:cNvPr>
          <p:cNvSpPr txBox="1"/>
          <p:nvPr/>
        </p:nvSpPr>
        <p:spPr>
          <a:xfrm>
            <a:off x="2762685" y="3317524"/>
            <a:ext cx="786384" cy="16299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Fold 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710006-130A-4C52-BB38-542121D74EA9}"/>
              </a:ext>
            </a:extLst>
          </p:cNvPr>
          <p:cNvSpPr txBox="1"/>
          <p:nvPr/>
        </p:nvSpPr>
        <p:spPr>
          <a:xfrm>
            <a:off x="2762685" y="3493593"/>
            <a:ext cx="786384" cy="14003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70" b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80% tracks</a:t>
            </a:r>
          </a:p>
        </p:txBody>
      </p:sp>
      <p:sp>
        <p:nvSpPr>
          <p:cNvPr id="24" name="Rounded Rectangle 21">
            <a:extLst>
              <a:ext uri="{FF2B5EF4-FFF2-40B4-BE49-F238E27FC236}">
                <a16:creationId xmlns:a16="http://schemas.microsoft.com/office/drawing/2014/main" id="{1F594ECF-F5E1-43FF-AB12-CBEAE636C6BC}"/>
              </a:ext>
            </a:extLst>
          </p:cNvPr>
          <p:cNvSpPr/>
          <p:nvPr/>
        </p:nvSpPr>
        <p:spPr>
          <a:xfrm>
            <a:off x="897309" y="3920228"/>
            <a:ext cx="786384" cy="5120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C5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51DA1D-834A-4C36-B26A-6437F1384BC8}"/>
              </a:ext>
            </a:extLst>
          </p:cNvPr>
          <p:cNvSpPr txBox="1"/>
          <p:nvPr/>
        </p:nvSpPr>
        <p:spPr>
          <a:xfrm>
            <a:off x="897309" y="3975892"/>
            <a:ext cx="786384" cy="16299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Fold 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0D26C2-DA31-4D5D-8338-FDEBD0C33673}"/>
              </a:ext>
            </a:extLst>
          </p:cNvPr>
          <p:cNvSpPr txBox="1"/>
          <p:nvPr/>
        </p:nvSpPr>
        <p:spPr>
          <a:xfrm>
            <a:off x="897309" y="4151961"/>
            <a:ext cx="786384" cy="14003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70" b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80% tracks</a:t>
            </a:r>
          </a:p>
        </p:txBody>
      </p:sp>
      <p:sp>
        <p:nvSpPr>
          <p:cNvPr id="27" name="Rounded Rectangle 24">
            <a:extLst>
              <a:ext uri="{FF2B5EF4-FFF2-40B4-BE49-F238E27FC236}">
                <a16:creationId xmlns:a16="http://schemas.microsoft.com/office/drawing/2014/main" id="{94F9A53F-8A1C-4980-B577-FDA10132710F}"/>
              </a:ext>
            </a:extLst>
          </p:cNvPr>
          <p:cNvSpPr/>
          <p:nvPr/>
        </p:nvSpPr>
        <p:spPr>
          <a:xfrm>
            <a:off x="1829997" y="3920228"/>
            <a:ext cx="786384" cy="5120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C5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3F8332-7804-477F-9EA7-04AE68821275}"/>
              </a:ext>
            </a:extLst>
          </p:cNvPr>
          <p:cNvSpPr txBox="1"/>
          <p:nvPr/>
        </p:nvSpPr>
        <p:spPr>
          <a:xfrm>
            <a:off x="1829997" y="3975892"/>
            <a:ext cx="786384" cy="16299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19" b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Fold 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31F9D5-E2CA-45D2-B15C-88A8C0298474}"/>
              </a:ext>
            </a:extLst>
          </p:cNvPr>
          <p:cNvSpPr txBox="1"/>
          <p:nvPr/>
        </p:nvSpPr>
        <p:spPr>
          <a:xfrm>
            <a:off x="1829997" y="4151961"/>
            <a:ext cx="786384" cy="14003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70" b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80% tracks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29299D-853E-45BF-AF9B-04F12E3A0E84}"/>
              </a:ext>
            </a:extLst>
          </p:cNvPr>
          <p:cNvSpPr txBox="1"/>
          <p:nvPr/>
        </p:nvSpPr>
        <p:spPr>
          <a:xfrm>
            <a:off x="583632" y="5791210"/>
            <a:ext cx="1737360" cy="2154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60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4차 </a:t>
            </a:r>
            <a:r>
              <a:rPr sz="1160" b="1" dirty="0" err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버전</a:t>
            </a:r>
            <a:endParaRPr sz="1160" b="1" dirty="0">
              <a:solidFill>
                <a:srgbClr val="1C5CD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59E4E7-AA03-4231-B449-F406829A16D7}"/>
              </a:ext>
            </a:extLst>
          </p:cNvPr>
          <p:cNvSpPr txBox="1"/>
          <p:nvPr/>
        </p:nvSpPr>
        <p:spPr>
          <a:xfrm>
            <a:off x="1392875" y="5820873"/>
            <a:ext cx="2651760" cy="18607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lang="en-US" sz="969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69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버전</a:t>
            </a:r>
            <a:r>
              <a:rPr sz="969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+ Full-data </a:t>
            </a:r>
            <a:r>
              <a:rPr lang="en-US" sz="969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sz="969" b="0" dirty="0">
                <a:solidFill>
                  <a:srgbClr val="606D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models</a:t>
            </a: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5BB13266-3E60-466B-B287-D153556A15E4}"/>
              </a:ext>
            </a:extLst>
          </p:cNvPr>
          <p:cNvGrpSpPr/>
          <p:nvPr/>
        </p:nvGrpSpPr>
        <p:grpSpPr>
          <a:xfrm>
            <a:off x="2706624" y="5191526"/>
            <a:ext cx="786384" cy="512064"/>
            <a:chOff x="6739128" y="3822191"/>
            <a:chExt cx="786384" cy="512064"/>
          </a:xfrm>
        </p:grpSpPr>
        <p:sp>
          <p:nvSpPr>
            <p:cNvPr id="55" name="Rounded Rectangle 52">
              <a:extLst>
                <a:ext uri="{FF2B5EF4-FFF2-40B4-BE49-F238E27FC236}">
                  <a16:creationId xmlns:a16="http://schemas.microsoft.com/office/drawing/2014/main" id="{BD633624-0B27-4055-A6FD-1964D9B4FDA2}"/>
                </a:ext>
              </a:extLst>
            </p:cNvPr>
            <p:cNvSpPr/>
            <p:nvPr/>
          </p:nvSpPr>
          <p:spPr>
            <a:xfrm>
              <a:off x="6739128" y="3822191"/>
              <a:ext cx="786384" cy="512064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143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F1A49E7-9D5A-46ED-B026-E3F223B713DF}"/>
                </a:ext>
              </a:extLst>
            </p:cNvPr>
            <p:cNvSpPr txBox="1"/>
            <p:nvPr/>
          </p:nvSpPr>
          <p:spPr>
            <a:xfrm>
              <a:off x="6739128" y="3877856"/>
              <a:ext cx="786384" cy="162993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ctr"/>
              <a:r>
                <a:rPr sz="819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Full 3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5F037E4-406F-4E86-97F5-CA8100B937EA}"/>
                </a:ext>
              </a:extLst>
            </p:cNvPr>
            <p:cNvSpPr txBox="1"/>
            <p:nvPr/>
          </p:nvSpPr>
          <p:spPr>
            <a:xfrm>
              <a:off x="6739128" y="4053925"/>
              <a:ext cx="786384" cy="140038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ctr"/>
              <a:r>
                <a:rPr sz="670" b="0" dirty="0">
                  <a:solidFill>
                    <a:srgbClr val="606D8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100% tracks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F332C547-2D07-4448-8FAA-53D74E38F0C7}"/>
              </a:ext>
            </a:extLst>
          </p:cNvPr>
          <p:cNvSpPr txBox="1"/>
          <p:nvPr/>
        </p:nvSpPr>
        <p:spPr>
          <a:xfrm>
            <a:off x="740664" y="6231322"/>
            <a:ext cx="3054096" cy="3091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69" b="1" dirty="0" err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</a:t>
            </a:r>
            <a:r>
              <a:rPr sz="969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fold </a:t>
            </a:r>
            <a:r>
              <a:rPr sz="969" b="1" dirty="0" err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모델에</a:t>
            </a:r>
            <a:r>
              <a:rPr sz="969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969" b="1" dirty="0" err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sz="969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track </a:t>
            </a:r>
            <a:r>
              <a:rPr sz="969" b="1" dirty="0" err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sz="969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969" b="1" dirty="0" err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모델을</a:t>
            </a:r>
            <a:r>
              <a:rPr sz="969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969" b="1" dirty="0" err="1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  <a:endParaRPr lang="en-US" sz="969" b="1" dirty="0">
              <a:solidFill>
                <a:srgbClr val="1C5CD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모델마다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SEED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다르게 설정</a:t>
            </a:r>
            <a:endParaRPr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더하기 기호 87">
            <a:extLst>
              <a:ext uri="{FF2B5EF4-FFF2-40B4-BE49-F238E27FC236}">
                <a16:creationId xmlns:a16="http://schemas.microsoft.com/office/drawing/2014/main" id="{8DAB0F1A-20C5-4BA6-B2EE-F687C567DCD7}"/>
              </a:ext>
            </a:extLst>
          </p:cNvPr>
          <p:cNvSpPr/>
          <p:nvPr/>
        </p:nvSpPr>
        <p:spPr>
          <a:xfrm>
            <a:off x="2016252" y="4766628"/>
            <a:ext cx="374904" cy="402336"/>
          </a:xfrm>
          <a:prstGeom prst="mathPlus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F6F3C115-7943-4D2D-937F-7B98114367A6}"/>
              </a:ext>
            </a:extLst>
          </p:cNvPr>
          <p:cNvGrpSpPr/>
          <p:nvPr/>
        </p:nvGrpSpPr>
        <p:grpSpPr>
          <a:xfrm>
            <a:off x="9665258" y="118872"/>
            <a:ext cx="2416639" cy="2057400"/>
            <a:chOff x="9284457" y="120522"/>
            <a:chExt cx="2416639" cy="2057400"/>
          </a:xfrm>
        </p:grpSpPr>
        <p:sp>
          <p:nvSpPr>
            <p:cNvPr id="89" name="Shape 9">
              <a:extLst>
                <a:ext uri="{FF2B5EF4-FFF2-40B4-BE49-F238E27FC236}">
                  <a16:creationId xmlns:a16="http://schemas.microsoft.com/office/drawing/2014/main" id="{EF9D54D2-C439-4202-B9AA-B96F09AE907D}"/>
                </a:ext>
              </a:extLst>
            </p:cNvPr>
            <p:cNvSpPr/>
            <p:nvPr/>
          </p:nvSpPr>
          <p:spPr>
            <a:xfrm>
              <a:off x="9284457" y="120522"/>
              <a:ext cx="2416639" cy="2057400"/>
            </a:xfrm>
            <a:prstGeom prst="roundRect">
              <a:avLst>
                <a:gd name="adj" fmla="val 5442"/>
              </a:avLst>
            </a:prstGeom>
            <a:solidFill>
              <a:srgbClr val="FFFFFF"/>
            </a:solidFill>
            <a:ln w="12700">
              <a:solidFill>
                <a:srgbClr val="DCE3EC"/>
              </a:solidFill>
              <a:prstDash val="solid"/>
            </a:ln>
            <a:effectLst>
              <a:outerShdw blurRad="12700" dist="50800" dir="2700000" algn="bl" rotWithShape="0">
                <a:srgbClr val="C9D1DD">
                  <a:alpha val="16000"/>
                </a:srgbClr>
              </a:outerShdw>
            </a:effectLst>
          </p:spPr>
        </p:sp>
        <p:sp>
          <p:nvSpPr>
            <p:cNvPr id="90" name="Text 10">
              <a:extLst>
                <a:ext uri="{FF2B5EF4-FFF2-40B4-BE49-F238E27FC236}">
                  <a16:creationId xmlns:a16="http://schemas.microsoft.com/office/drawing/2014/main" id="{00FDC3FA-5B4A-4BE1-BB1F-91177920AA7C}"/>
                </a:ext>
              </a:extLst>
            </p:cNvPr>
            <p:cNvSpPr/>
            <p:nvPr/>
          </p:nvSpPr>
          <p:spPr>
            <a:xfrm>
              <a:off x="9629110" y="215708"/>
              <a:ext cx="17830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B778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Noto Sans" pitchFamily="34" charset="-120"/>
                </a:rPr>
                <a:t>Test Macro-F1</a:t>
              </a:r>
              <a:endParaRPr 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1" name="Text 11">
              <a:extLst>
                <a:ext uri="{FF2B5EF4-FFF2-40B4-BE49-F238E27FC236}">
                  <a16:creationId xmlns:a16="http://schemas.microsoft.com/office/drawing/2014/main" id="{7FDE6AAF-1E11-4F80-9645-6D37A65274C9}"/>
                </a:ext>
              </a:extLst>
            </p:cNvPr>
            <p:cNvSpPr/>
            <p:nvPr/>
          </p:nvSpPr>
          <p:spPr>
            <a:xfrm>
              <a:off x="9629110" y="405934"/>
              <a:ext cx="178308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20242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Noto Sans" pitchFamily="34" charset="-120"/>
                </a:rPr>
                <a:t>0.9962</a:t>
              </a:r>
              <a:endParaRPr lang="en-US" sz="2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2" name="Text 13">
              <a:extLst>
                <a:ext uri="{FF2B5EF4-FFF2-40B4-BE49-F238E27FC236}">
                  <a16:creationId xmlns:a16="http://schemas.microsoft.com/office/drawing/2014/main" id="{025A9001-A98B-42DA-9B25-83F18D82EDF5}"/>
                </a:ext>
              </a:extLst>
            </p:cNvPr>
            <p:cNvSpPr/>
            <p:nvPr/>
          </p:nvSpPr>
          <p:spPr>
            <a:xfrm>
              <a:off x="9629110" y="1193070"/>
              <a:ext cx="17830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B778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Noto Sans" pitchFamily="34" charset="-120"/>
                </a:rPr>
                <a:t>3차 대비</a:t>
              </a:r>
              <a:endParaRPr 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3" name="Text 14">
              <a:extLst>
                <a:ext uri="{FF2B5EF4-FFF2-40B4-BE49-F238E27FC236}">
                  <a16:creationId xmlns:a16="http://schemas.microsoft.com/office/drawing/2014/main" id="{2335B807-001A-4648-8253-93104C7D85C4}"/>
                </a:ext>
              </a:extLst>
            </p:cNvPr>
            <p:cNvSpPr/>
            <p:nvPr/>
          </p:nvSpPr>
          <p:spPr>
            <a:xfrm>
              <a:off x="9629110" y="1353316"/>
              <a:ext cx="178308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500" b="1" dirty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Noto Sans" pitchFamily="34" charset="-120"/>
                </a:rPr>
                <a:t>-0.02%p</a:t>
              </a:r>
              <a:endParaRPr lang="en-US" sz="25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972D9B62-8335-4D9D-AF77-22C0ED3D0DB0}"/>
              </a:ext>
            </a:extLst>
          </p:cNvPr>
          <p:cNvGrpSpPr/>
          <p:nvPr/>
        </p:nvGrpSpPr>
        <p:grpSpPr>
          <a:xfrm>
            <a:off x="1810512" y="5191526"/>
            <a:ext cx="786384" cy="512064"/>
            <a:chOff x="6739128" y="3822191"/>
            <a:chExt cx="786384" cy="512064"/>
          </a:xfrm>
        </p:grpSpPr>
        <p:sp>
          <p:nvSpPr>
            <p:cNvPr id="95" name="Rounded Rectangle 52">
              <a:extLst>
                <a:ext uri="{FF2B5EF4-FFF2-40B4-BE49-F238E27FC236}">
                  <a16:creationId xmlns:a16="http://schemas.microsoft.com/office/drawing/2014/main" id="{92893FB5-6A8C-4D14-8A84-6D74614ED7BF}"/>
                </a:ext>
              </a:extLst>
            </p:cNvPr>
            <p:cNvSpPr/>
            <p:nvPr/>
          </p:nvSpPr>
          <p:spPr>
            <a:xfrm>
              <a:off x="6739128" y="3822191"/>
              <a:ext cx="786384" cy="512064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143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F7F86A7-0A8B-4937-A213-1D90EE84E126}"/>
                </a:ext>
              </a:extLst>
            </p:cNvPr>
            <p:cNvSpPr txBox="1"/>
            <p:nvPr/>
          </p:nvSpPr>
          <p:spPr>
            <a:xfrm>
              <a:off x="6739128" y="3877856"/>
              <a:ext cx="786384" cy="162993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ctr"/>
              <a:r>
                <a:rPr sz="819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Full </a:t>
              </a:r>
              <a:r>
                <a:rPr lang="en-US" sz="819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sz="819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CA951D4-9CFD-4823-9BAC-EE66B46B4715}"/>
                </a:ext>
              </a:extLst>
            </p:cNvPr>
            <p:cNvSpPr txBox="1"/>
            <p:nvPr/>
          </p:nvSpPr>
          <p:spPr>
            <a:xfrm>
              <a:off x="6739128" y="4053925"/>
              <a:ext cx="786384" cy="140038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ctr"/>
              <a:r>
                <a:rPr sz="670" b="0" dirty="0">
                  <a:solidFill>
                    <a:srgbClr val="606D8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100% tracks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EB820CF3-1635-411A-853C-DB922035723A}"/>
              </a:ext>
            </a:extLst>
          </p:cNvPr>
          <p:cNvGrpSpPr/>
          <p:nvPr/>
        </p:nvGrpSpPr>
        <p:grpSpPr>
          <a:xfrm>
            <a:off x="937260" y="5191526"/>
            <a:ext cx="786384" cy="512064"/>
            <a:chOff x="6739128" y="3822191"/>
            <a:chExt cx="786384" cy="512064"/>
          </a:xfrm>
        </p:grpSpPr>
        <p:sp>
          <p:nvSpPr>
            <p:cNvPr id="99" name="Rounded Rectangle 52">
              <a:extLst>
                <a:ext uri="{FF2B5EF4-FFF2-40B4-BE49-F238E27FC236}">
                  <a16:creationId xmlns:a16="http://schemas.microsoft.com/office/drawing/2014/main" id="{E01A24A4-53E4-4DB9-936F-6F05D85A47F8}"/>
                </a:ext>
              </a:extLst>
            </p:cNvPr>
            <p:cNvSpPr/>
            <p:nvPr/>
          </p:nvSpPr>
          <p:spPr>
            <a:xfrm>
              <a:off x="6739128" y="3822191"/>
              <a:ext cx="786384" cy="512064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143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CD59BBA2-17A0-46BA-9580-3EB94EFEBF7C}"/>
                </a:ext>
              </a:extLst>
            </p:cNvPr>
            <p:cNvSpPr txBox="1"/>
            <p:nvPr/>
          </p:nvSpPr>
          <p:spPr>
            <a:xfrm>
              <a:off x="6739128" y="3877856"/>
              <a:ext cx="786384" cy="162993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ctr"/>
              <a:r>
                <a:rPr sz="819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Full </a:t>
              </a:r>
              <a:r>
                <a:rPr lang="en-US" sz="819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sz="819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EB605585-1972-4E07-AD96-4779B9843713}"/>
                </a:ext>
              </a:extLst>
            </p:cNvPr>
            <p:cNvSpPr txBox="1"/>
            <p:nvPr/>
          </p:nvSpPr>
          <p:spPr>
            <a:xfrm>
              <a:off x="6739128" y="4053925"/>
              <a:ext cx="786384" cy="140038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ctr"/>
              <a:r>
                <a:rPr sz="670" b="0" dirty="0">
                  <a:solidFill>
                    <a:srgbClr val="606D8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100% tracks</a:t>
              </a:r>
            </a:p>
          </p:txBody>
        </p:sp>
      </p:grpSp>
      <p:pic>
        <p:nvPicPr>
          <p:cNvPr id="105" name="그림 104">
            <a:extLst>
              <a:ext uri="{FF2B5EF4-FFF2-40B4-BE49-F238E27FC236}">
                <a16:creationId xmlns:a16="http://schemas.microsoft.com/office/drawing/2014/main" id="{9D70E63F-2628-47AF-BD27-0902BF4D2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929" y="2482303"/>
            <a:ext cx="4538495" cy="1521795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37950F63-F472-4AC7-B764-FE2A59CC5C2B}"/>
              </a:ext>
            </a:extLst>
          </p:cNvPr>
          <p:cNvSpPr txBox="1"/>
          <p:nvPr/>
        </p:nvSpPr>
        <p:spPr>
          <a:xfrm>
            <a:off x="4783484" y="2166506"/>
            <a:ext cx="2182508" cy="2277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lang="en-US" sz="1240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40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</a:t>
            </a:r>
            <a:r>
              <a:rPr lang="en-US" altLang="ko-KR" sz="1240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VS 4</a:t>
            </a:r>
            <a:r>
              <a:rPr lang="ko-KR" altLang="en-US" sz="1240" b="1" dirty="0">
                <a:solidFill>
                  <a:srgbClr val="1C5CD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성능 미리보기 </a:t>
            </a:r>
            <a:endParaRPr sz="1240" b="1" dirty="0">
              <a:solidFill>
                <a:srgbClr val="1C5CD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1" name="Connector 8">
            <a:extLst>
              <a:ext uri="{FF2B5EF4-FFF2-40B4-BE49-F238E27FC236}">
                <a16:creationId xmlns:a16="http://schemas.microsoft.com/office/drawing/2014/main" id="{1706E72F-289E-4E55-9EEB-AB11734C9537}"/>
              </a:ext>
            </a:extLst>
          </p:cNvPr>
          <p:cNvCxnSpPr>
            <a:cxnSpLocks/>
          </p:cNvCxnSpPr>
          <p:nvPr/>
        </p:nvCxnSpPr>
        <p:spPr>
          <a:xfrm>
            <a:off x="4783484" y="2417543"/>
            <a:ext cx="3511296" cy="0"/>
          </a:xfrm>
          <a:prstGeom prst="line">
            <a:avLst/>
          </a:prstGeom>
          <a:ln w="12700">
            <a:solidFill>
              <a:srgbClr val="DC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3" name="그림 112">
            <a:extLst>
              <a:ext uri="{FF2B5EF4-FFF2-40B4-BE49-F238E27FC236}">
                <a16:creationId xmlns:a16="http://schemas.microsoft.com/office/drawing/2014/main" id="{720D05E1-07BE-48FF-8F07-AC6B69D65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484" y="4190654"/>
            <a:ext cx="4565384" cy="1537925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811292B3-2873-4EF4-98BE-464F83EA5EED}"/>
              </a:ext>
            </a:extLst>
          </p:cNvPr>
          <p:cNvSpPr txBox="1"/>
          <p:nvPr/>
        </p:nvSpPr>
        <p:spPr>
          <a:xfrm>
            <a:off x="9933462" y="2650246"/>
            <a:ext cx="1551482" cy="1293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5-Fold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정답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3-Full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오답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종합 정답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0F90226-ADEC-47AA-9FFE-66A2D264D3BB}"/>
              </a:ext>
            </a:extLst>
          </p:cNvPr>
          <p:cNvSpPr txBox="1"/>
          <p:nvPr/>
        </p:nvSpPr>
        <p:spPr>
          <a:xfrm>
            <a:off x="9933462" y="4332874"/>
            <a:ext cx="1551482" cy="1293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5-Fold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오답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3-Full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정답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종합 정답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AA6D5CB-221C-41BE-8DFF-6AC51C4674C0}"/>
              </a:ext>
            </a:extLst>
          </p:cNvPr>
          <p:cNvSpPr txBox="1"/>
          <p:nvPr/>
        </p:nvSpPr>
        <p:spPr>
          <a:xfrm>
            <a:off x="4928688" y="6018926"/>
            <a:ext cx="6361811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일부 오류는 보완했지만 전체 Test 성능 개선은 확인되지 않아 미채택</a:t>
            </a:r>
            <a:endParaRPr sz="1310" b="1" dirty="0">
              <a:solidFill>
                <a:srgbClr val="1F232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2194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9874" y="173737"/>
            <a:ext cx="8046720" cy="4139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5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결론</a:t>
            </a:r>
            <a:r>
              <a:rPr sz="245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sz="245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</a:t>
            </a:r>
            <a:r>
              <a:rPr sz="245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245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</a:t>
            </a:r>
            <a:r>
              <a:rPr sz="245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245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  <a:r>
              <a:rPr sz="245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2450" b="1" dirty="0" err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과정</a:t>
            </a:r>
            <a:endParaRPr sz="2450" b="1" dirty="0">
              <a:solidFill>
                <a:srgbClr val="1C20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170432"/>
            <a:ext cx="1664208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256452"/>
            <a:ext cx="475488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217032"/>
            <a:ext cx="1051560" cy="29084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65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0.9691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31136" y="1499616"/>
            <a:ext cx="484632" cy="0"/>
          </a:xfrm>
          <a:prstGeom prst="line">
            <a:avLst/>
          </a:prstGeom>
          <a:ln w="16510">
            <a:solidFill>
              <a:srgbClr val="2F5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hevron 7"/>
          <p:cNvSpPr/>
          <p:nvPr/>
        </p:nvSpPr>
        <p:spPr>
          <a:xfrm>
            <a:off x="2679191" y="1426464"/>
            <a:ext cx="109728" cy="146304"/>
          </a:xfrm>
          <a:prstGeom prst="chevron">
            <a:avLst/>
          </a:prstGeom>
          <a:solidFill>
            <a:srgbClr val="2F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88920" y="1170432"/>
            <a:ext cx="1664208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62072" y="1256452"/>
            <a:ext cx="475488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1217032"/>
            <a:ext cx="1051560" cy="29084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65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0.9878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53128" y="1499616"/>
            <a:ext cx="484632" cy="0"/>
          </a:xfrm>
          <a:prstGeom prst="line">
            <a:avLst/>
          </a:prstGeom>
          <a:ln w="16510">
            <a:solidFill>
              <a:srgbClr val="2F5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vron 12"/>
          <p:cNvSpPr/>
          <p:nvPr/>
        </p:nvSpPr>
        <p:spPr>
          <a:xfrm>
            <a:off x="4901184" y="1426464"/>
            <a:ext cx="109728" cy="146304"/>
          </a:xfrm>
          <a:prstGeom prst="chevron">
            <a:avLst/>
          </a:prstGeom>
          <a:solidFill>
            <a:srgbClr val="2F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10912" y="1170432"/>
            <a:ext cx="1664208" cy="658368"/>
          </a:xfrm>
          <a:prstGeom prst="roundRect">
            <a:avLst/>
          </a:prstGeom>
          <a:solidFill>
            <a:srgbClr val="EFF5FF"/>
          </a:solidFill>
          <a:ln w="13970">
            <a:solidFill>
              <a:srgbClr val="2F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84064" y="1256452"/>
            <a:ext cx="475488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13832" y="1217032"/>
            <a:ext cx="1051560" cy="29084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65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0.9964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1554480"/>
            <a:ext cx="1207008" cy="1554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FINAL SUBMISSION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75120" y="1499616"/>
            <a:ext cx="484632" cy="0"/>
          </a:xfrm>
          <a:prstGeom prst="line">
            <a:avLst/>
          </a:prstGeom>
          <a:ln w="16510">
            <a:solidFill>
              <a:srgbClr val="8E94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evron 18"/>
          <p:cNvSpPr/>
          <p:nvPr/>
        </p:nvSpPr>
        <p:spPr>
          <a:xfrm>
            <a:off x="7123176" y="1426464"/>
            <a:ext cx="109728" cy="146304"/>
          </a:xfrm>
          <a:prstGeom prst="chevron">
            <a:avLst/>
          </a:prstGeom>
          <a:solidFill>
            <a:srgbClr val="8E9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232904" y="1170432"/>
            <a:ext cx="1664208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06056" y="1256452"/>
            <a:ext cx="475488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217032"/>
            <a:ext cx="1051560" cy="29084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650" b="1">
                <a:solidFill>
                  <a:srgbClr val="8E94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0.9962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1554480"/>
            <a:ext cx="1207008" cy="1554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1">
                <a:solidFill>
                  <a:srgbClr val="8E94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NOT SELECTED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91472" y="1124712"/>
            <a:ext cx="2212848" cy="749808"/>
          </a:xfrm>
          <a:prstGeom prst="roundRect">
            <a:avLst/>
          </a:prstGeom>
          <a:solidFill>
            <a:srgbClr val="EFF5FF"/>
          </a:solidFill>
          <a:ln w="15240">
            <a:solidFill>
              <a:srgbClr val="2F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46920" y="1245833"/>
            <a:ext cx="1901952" cy="17838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19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선택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1435038"/>
            <a:ext cx="1901952" cy="2754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5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3차 · 0.9964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" y="2148840"/>
            <a:ext cx="2702052" cy="31272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3503" y="2285876"/>
            <a:ext cx="530352" cy="18312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2263562"/>
            <a:ext cx="1897380" cy="2277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4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Baseline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5216" y="2624328"/>
            <a:ext cx="2409444" cy="0"/>
          </a:xfrm>
          <a:prstGeom prst="line">
            <a:avLst/>
          </a:prstGeom>
          <a:ln w="1016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03503" y="2770632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3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3" y="2971800"/>
            <a:ext cx="2372868" cy="18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 가능한 기준 모델 필요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3" y="3547872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3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METHOD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3" y="3749039"/>
            <a:ext cx="2372868" cy="18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EfficientNet-B0 Baseline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3" y="4361688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3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3" y="4562855"/>
            <a:ext cx="2372868" cy="3385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0.9691
열화 조건 발견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05556" y="2148840"/>
            <a:ext cx="2702052" cy="31272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470148" y="2285876"/>
            <a:ext cx="530352" cy="18312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45636" y="2263562"/>
            <a:ext cx="1897380" cy="2277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4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Robustness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451860" y="2624328"/>
            <a:ext cx="2409444" cy="0"/>
          </a:xfrm>
          <a:prstGeom prst="line">
            <a:avLst/>
          </a:prstGeom>
          <a:ln w="1016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470148" y="2770632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3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0148" y="2971800"/>
            <a:ext cx="2372868" cy="18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저화질·흐림·가림 등에 취약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0148" y="3547872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3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METHOD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0148" y="3749039"/>
            <a:ext cx="2372868" cy="18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Error-driven Augmentation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0148" y="4361688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3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0148" y="4562855"/>
            <a:ext cx="2372868" cy="3385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0.9878
일반화 문제 지속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200" y="2148840"/>
            <a:ext cx="2702052" cy="3127248"/>
          </a:xfrm>
          <a:prstGeom prst="roundRect">
            <a:avLst/>
          </a:prstGeom>
          <a:solidFill>
            <a:srgbClr val="F7FAFF"/>
          </a:solidFill>
          <a:ln w="15240">
            <a:solidFill>
              <a:srgbClr val="2F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336792" y="2285876"/>
            <a:ext cx="530352" cy="18312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2263562"/>
            <a:ext cx="1897380" cy="2277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4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Track-aware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318504" y="2624328"/>
            <a:ext cx="2409444" cy="0"/>
          </a:xfrm>
          <a:prstGeom prst="line">
            <a:avLst/>
          </a:prstGeom>
          <a:ln w="10160">
            <a:solidFill>
              <a:srgbClr val="2F5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336792" y="2770632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3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36792" y="2971800"/>
            <a:ext cx="2372868" cy="3385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track 중복으로
새 표지판 학습 부족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36792" y="3547872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3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METHOD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6792" y="3749039"/>
            <a:ext cx="2372868" cy="3385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Track-aware 5-Fold OOF
+ Fold Ensemble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6792" y="4361688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3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RESULT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562855"/>
            <a:ext cx="2372868" cy="3385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0.9964
최고 성능 · 최종 선택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30568" y="4965192"/>
            <a:ext cx="1385316" cy="219456"/>
          </a:xfrm>
          <a:prstGeom prst="roundRect">
            <a:avLst/>
          </a:prstGeom>
          <a:solidFill>
            <a:srgbClr val="EFF5FF"/>
          </a:solidFill>
          <a:ln w="8890">
            <a:solidFill>
              <a:srgbClr val="2F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830568" y="4987293"/>
            <a:ext cx="1385316" cy="1569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FINAL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38844" y="2148840"/>
            <a:ext cx="2702052" cy="31272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203436" y="2285876"/>
            <a:ext cx="530352" cy="18312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78924" y="2263562"/>
            <a:ext cx="1897380" cy="2277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4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Full-data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185148" y="2624328"/>
            <a:ext cx="2409444" cy="0"/>
          </a:xfrm>
          <a:prstGeom prst="line">
            <a:avLst/>
          </a:prstGeom>
          <a:ln w="1016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203436" y="2770632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3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03436" y="2971800"/>
            <a:ext cx="2372868" cy="3385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fold가 전체 track의
약 80%만 학습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03436" y="3547872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3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METHOD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03436" y="3749039"/>
            <a:ext cx="2372868" cy="18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Full-data models 추가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03436" y="4361688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30" b="1">
                <a:solidFill>
                  <a:srgbClr val="6870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RESULT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03436" y="4562855"/>
            <a:ext cx="2372868" cy="3385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1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0.9962
개선되지 않아 미채택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38912" y="5532120"/>
            <a:ext cx="11283696" cy="0"/>
          </a:xfrm>
          <a:prstGeom prst="line">
            <a:avLst/>
          </a:prstGeom>
          <a:ln w="1143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85800" y="5819015"/>
            <a:ext cx="10789920" cy="192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10" b="1" dirty="0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Baseline </a:t>
            </a:r>
            <a:r>
              <a:rPr sz="1010" b="1" dirty="0" err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구축</a:t>
            </a:r>
            <a:r>
              <a:rPr sz="1010" b="1" dirty="0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→  </a:t>
            </a:r>
            <a:r>
              <a:rPr sz="1010" b="1" dirty="0" err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취약</a:t>
            </a:r>
            <a:r>
              <a:rPr sz="1010" b="1" dirty="0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0" b="1" dirty="0" err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</a:t>
            </a:r>
            <a:r>
              <a:rPr sz="1010" b="1" dirty="0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0" b="1" dirty="0" err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보완</a:t>
            </a:r>
            <a:r>
              <a:rPr sz="1010" b="1" dirty="0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→  Track </a:t>
            </a:r>
            <a:r>
              <a:rPr sz="1010" b="1" dirty="0" err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</a:t>
            </a:r>
            <a:r>
              <a:rPr sz="1010" b="1" dirty="0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0" b="1" dirty="0" err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sz="1010" b="1" dirty="0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→  </a:t>
            </a:r>
            <a:r>
              <a:rPr sz="1010" b="1" dirty="0" err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  <a:r>
              <a:rPr sz="1010" b="1" dirty="0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0" b="1" dirty="0" err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가설</a:t>
            </a:r>
            <a:r>
              <a:rPr sz="1010" b="1" dirty="0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10" b="1" dirty="0" err="1">
                <a:solidFill>
                  <a:srgbClr val="2F5CB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</a:t>
            </a:r>
            <a:endParaRPr sz="1010" b="1" dirty="0">
              <a:solidFill>
                <a:srgbClr val="2F5CB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64FDAC-56E4-4B7C-8DD1-ECB7E8B27D1C}"/>
              </a:ext>
            </a:extLst>
          </p:cNvPr>
          <p:cNvSpPr txBox="1"/>
          <p:nvPr/>
        </p:nvSpPr>
        <p:spPr>
          <a:xfrm>
            <a:off x="883920" y="1270924"/>
            <a:ext cx="10424160" cy="35148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ko-KR" altLang="en-US" sz="80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r>
              <a:rPr lang="en-US" altLang="ko-KR" sz="8000" b="1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ctr"/>
            <a:endParaRPr lang="en-US" sz="8000" b="1" dirty="0">
              <a:solidFill>
                <a:srgbClr val="1C20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sz="6000" dirty="0">
                <a:solidFill>
                  <a:srgbClr val="1C2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Q&amp;A</a:t>
            </a:r>
            <a:endParaRPr sz="6000" dirty="0">
              <a:solidFill>
                <a:srgbClr val="1C20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5482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400</TotalTime>
  <Words>1071</Words>
  <Application>Microsoft Office PowerPoint</Application>
  <PresentationFormat>와이드스크린</PresentationFormat>
  <Paragraphs>306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맑은 고딕</vt:lpstr>
      <vt:lpstr>Arial</vt:lpstr>
      <vt:lpstr>Calibri</vt:lpstr>
      <vt:lpstr>Symbol</vt:lpstr>
      <vt:lpstr>Times New Roman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삼성</cp:lastModifiedBy>
  <cp:revision>61</cp:revision>
  <dcterms:modified xsi:type="dcterms:W3CDTF">2026-08-07T03:16:22Z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